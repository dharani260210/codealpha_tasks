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60606"/>
                </a:solidFill>
                <a:latin typeface="Fira Sans Light"/>
                <a:cs typeface="Fira Sans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060606"/>
                </a:solidFill>
                <a:latin typeface="Fira Sans Light"/>
                <a:cs typeface="Fira Sans Ligh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60606"/>
                </a:solidFill>
                <a:latin typeface="Fira Sans Light"/>
                <a:cs typeface="Fira Sans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060606"/>
                </a:solidFill>
                <a:latin typeface="Fira Sans Light"/>
                <a:cs typeface="Fira Sans Ligh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60606"/>
                </a:solidFill>
                <a:latin typeface="Fira Sans Light"/>
                <a:cs typeface="Fira Sans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60606"/>
                </a:solidFill>
                <a:latin typeface="Fira Sans Light"/>
                <a:cs typeface="Fira Sans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630400" cy="239568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515" y="5330952"/>
            <a:ext cx="13055612" cy="380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5515" y="5614415"/>
            <a:ext cx="457204" cy="6400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3272" y="776127"/>
            <a:ext cx="6149975" cy="1564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60606"/>
                </a:solidFill>
                <a:latin typeface="Fira Sans Light"/>
                <a:cs typeface="Fira Sans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3272" y="1320164"/>
            <a:ext cx="8442960" cy="18122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060606"/>
                </a:solidFill>
                <a:latin typeface="Fira Sans Light"/>
                <a:cs typeface="Fira Sans Ligh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0.jp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4.jp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jp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jpg"/><Relationship Id="rId3" Type="http://schemas.openxmlformats.org/officeDocument/2006/relationships/image" Target="../media/image70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0644" y="5633732"/>
            <a:ext cx="2924175" cy="368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Author:</a:t>
            </a:r>
            <a:r>
              <a:rPr dirty="0" sz="2250" spc="-9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Dharani</a:t>
            </a:r>
            <a:r>
              <a:rPr dirty="0" sz="2250" spc="-8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Kumar</a:t>
            </a:r>
            <a:endParaRPr sz="2250">
              <a:latin typeface="Fira Sans Light"/>
              <a:cs typeface="Fira Sans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13411" y="6529023"/>
            <a:ext cx="29209" cy="55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" spc="-25" b="0">
                <a:solidFill>
                  <a:srgbClr val="3F3E3E"/>
                </a:solidFill>
                <a:latin typeface="Fira Sans Light"/>
                <a:cs typeface="Fira Sans Light"/>
              </a:rPr>
              <a:t>.</a:t>
            </a:r>
            <a:endParaRPr sz="100">
              <a:latin typeface="Fira Sans Light"/>
              <a:cs typeface="Fira Sans Light"/>
            </a:endParaRPr>
          </a:p>
          <a:p>
            <a:pPr algn="ctr">
              <a:lnSpc>
                <a:spcPct val="100000"/>
              </a:lnSpc>
            </a:pPr>
            <a:r>
              <a:rPr dirty="0" sz="100" spc="-25" b="0">
                <a:solidFill>
                  <a:srgbClr val="3F3E3E"/>
                </a:solidFill>
                <a:latin typeface="Fira Sans Light"/>
                <a:cs typeface="Fira Sans Light"/>
              </a:rPr>
              <a:t>i</a:t>
            </a:r>
            <a:endParaRPr sz="100">
              <a:latin typeface="Fira Sans Light"/>
              <a:cs typeface="Fira Sans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3271" y="4061472"/>
            <a:ext cx="9880600" cy="963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150" b="0">
                <a:solidFill>
                  <a:srgbClr val="060606"/>
                </a:solidFill>
                <a:latin typeface="Fira Sans Light"/>
                <a:cs typeface="Fira Sans Light"/>
              </a:rPr>
              <a:t>Phishing</a:t>
            </a:r>
            <a:r>
              <a:rPr dirty="0" sz="6150" spc="-165" b="0">
                <a:solidFill>
                  <a:srgbClr val="060606"/>
                </a:solidFill>
                <a:latin typeface="Fira Sans Light"/>
                <a:cs typeface="Fira Sans Light"/>
              </a:rPr>
              <a:t> </a:t>
            </a:r>
            <a:r>
              <a:rPr dirty="0" sz="6150" b="0">
                <a:solidFill>
                  <a:srgbClr val="060606"/>
                </a:solidFill>
                <a:latin typeface="Fira Sans Light"/>
                <a:cs typeface="Fira Sans Light"/>
              </a:rPr>
              <a:t>Awareness</a:t>
            </a:r>
            <a:r>
              <a:rPr dirty="0" sz="6150" spc="-155" b="0">
                <a:solidFill>
                  <a:srgbClr val="060606"/>
                </a:solidFill>
                <a:latin typeface="Fira Sans Light"/>
                <a:cs typeface="Fira Sans Light"/>
              </a:rPr>
              <a:t> </a:t>
            </a:r>
            <a:r>
              <a:rPr dirty="0" sz="6150" spc="-20" b="0">
                <a:solidFill>
                  <a:srgbClr val="060606"/>
                </a:solidFill>
                <a:latin typeface="Fira Sans Light"/>
                <a:cs typeface="Fira Sans Light"/>
              </a:rPr>
              <a:t>Training</a:t>
            </a:r>
            <a:endParaRPr sz="615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926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150" spc="-30"/>
              <a:t>CONTENTS</a:t>
            </a:r>
            <a:endParaRPr sz="6150"/>
          </a:p>
        </p:txBody>
      </p:sp>
      <p:sp>
        <p:nvSpPr>
          <p:cNvPr id="4" name="object 4"/>
          <p:cNvSpPr txBox="1"/>
          <p:nvPr/>
        </p:nvSpPr>
        <p:spPr>
          <a:xfrm>
            <a:off x="1012177" y="2801632"/>
            <a:ext cx="2535555" cy="72136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25"/>
              </a:spcBef>
            </a:pP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1.</a:t>
            </a:r>
            <a:r>
              <a:rPr dirty="0" sz="2250" spc="10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Introduction</a:t>
            </a:r>
            <a:r>
              <a:rPr dirty="0" sz="2250" spc="-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25" b="0">
                <a:solidFill>
                  <a:srgbClr val="3F3E3E"/>
                </a:solidFill>
                <a:latin typeface="Fira Sans Light"/>
                <a:cs typeface="Fira Sans Light"/>
              </a:rPr>
              <a:t>to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Phishing</a:t>
            </a:r>
            <a:r>
              <a:rPr dirty="0" sz="2250" spc="-6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Awareness</a:t>
            </a:r>
            <a:endParaRPr sz="2250">
              <a:latin typeface="Fira Sans Light"/>
              <a:cs typeface="Fira Sans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2177" y="4362061"/>
            <a:ext cx="2162175" cy="72199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20"/>
              </a:spcBef>
            </a:pPr>
            <a:r>
              <a:rPr dirty="0" sz="2250" spc="-1085" b="0">
                <a:solidFill>
                  <a:srgbClr val="3F3E3E"/>
                </a:solidFill>
                <a:latin typeface="Fira Sans Light"/>
                <a:cs typeface="Fira Sans Light"/>
              </a:rPr>
              <a:t>2</a:t>
            </a:r>
            <a:r>
              <a:rPr dirty="0" sz="2250" spc="-30" b="0">
                <a:solidFill>
                  <a:srgbClr val="3F3E3E"/>
                </a:solidFill>
                <a:latin typeface="Fira Sans Light"/>
                <a:cs typeface="Fira Sans Light"/>
              </a:rPr>
              <a:t>5</a:t>
            </a:r>
            <a:r>
              <a:rPr dirty="0" sz="2250" spc="-5" b="0">
                <a:solidFill>
                  <a:srgbClr val="3F3E3E"/>
                </a:solidFill>
                <a:latin typeface="Fira Sans Light"/>
                <a:cs typeface="Fira Sans Light"/>
              </a:rPr>
              <a:t>.</a:t>
            </a:r>
            <a:r>
              <a:rPr dirty="0" sz="2250" spc="-45" b="0">
                <a:solidFill>
                  <a:srgbClr val="3F3E3E"/>
                </a:solidFill>
                <a:latin typeface="Fira Sans Light"/>
                <a:cs typeface="Fira Sans Light"/>
              </a:rPr>
              <a:t>r</a:t>
            </a:r>
            <a:r>
              <a:rPr dirty="0" sz="2250" spc="-20" b="0">
                <a:solidFill>
                  <a:srgbClr val="3F3E3E"/>
                </a:solidFill>
                <a:latin typeface="Fira Sans Light"/>
                <a:cs typeface="Fira Sans Light"/>
              </a:rPr>
              <a:t>e</a:t>
            </a:r>
            <a:r>
              <a:rPr dirty="0" sz="2250" spc="-25" b="0">
                <a:solidFill>
                  <a:srgbClr val="3F3E3E"/>
                </a:solidFill>
                <a:latin typeface="Fira Sans Light"/>
                <a:cs typeface="Fira Sans Light"/>
              </a:rPr>
              <a:t>a</a:t>
            </a:r>
            <a:r>
              <a:rPr dirty="0" sz="2250" spc="-5" b="0">
                <a:solidFill>
                  <a:srgbClr val="3F3E3E"/>
                </a:solidFill>
                <a:latin typeface="Fira Sans Light"/>
                <a:cs typeface="Fira Sans Light"/>
              </a:rPr>
              <a:t>l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 Example</a:t>
            </a:r>
            <a:r>
              <a:rPr dirty="0" sz="2250" spc="-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50" b="0">
                <a:solidFill>
                  <a:srgbClr val="3F3E3E"/>
                </a:solidFill>
                <a:latin typeface="Fira Sans Light"/>
                <a:cs typeface="Fira Sans Light"/>
              </a:rPr>
              <a:t>—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Fake</a:t>
            </a:r>
            <a:r>
              <a:rPr dirty="0" sz="2250" spc="-9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vs.</a:t>
            </a:r>
            <a:r>
              <a:rPr dirty="0" sz="2250" spc="-9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20" b="0">
                <a:solidFill>
                  <a:srgbClr val="3F3E3E"/>
                </a:solidFill>
                <a:latin typeface="Fira Sans Light"/>
                <a:cs typeface="Fira Sans Light"/>
              </a:rPr>
              <a:t>Real</a:t>
            </a:r>
            <a:endParaRPr sz="2250">
              <a:latin typeface="Fira Sans Light"/>
              <a:cs typeface="Fira Sans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33559" y="2801632"/>
            <a:ext cx="1508125" cy="712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8290" marR="5080" indent="-276225">
              <a:lnSpc>
                <a:spcPct val="100000"/>
              </a:lnSpc>
              <a:spcBef>
                <a:spcPts val="100"/>
              </a:spcBef>
            </a:pP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2.</a:t>
            </a:r>
            <a:r>
              <a:rPr dirty="0" sz="2250" spc="-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What</a:t>
            </a:r>
            <a:r>
              <a:rPr dirty="0" sz="2250" spc="-25" b="0">
                <a:solidFill>
                  <a:srgbClr val="3F3E3E"/>
                </a:solidFill>
                <a:latin typeface="Fira Sans Light"/>
                <a:cs typeface="Fira Sans Light"/>
              </a:rPr>
              <a:t> is </a:t>
            </a:r>
            <a:r>
              <a:rPr dirty="0" sz="2250" spc="-20" b="0">
                <a:solidFill>
                  <a:srgbClr val="3F3E3E"/>
                </a:solidFill>
                <a:latin typeface="Fira Sans Light"/>
                <a:cs typeface="Fira Sans Light"/>
              </a:rPr>
              <a:t>Phishing?</a:t>
            </a:r>
            <a:endParaRPr sz="2250">
              <a:latin typeface="Fira Sans Light"/>
              <a:cs typeface="Fira Sans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2177" y="5752860"/>
            <a:ext cx="1724660" cy="72072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30"/>
              </a:spcBef>
            </a:pPr>
            <a:r>
              <a:rPr dirty="0" sz="2250" spc="-1175" b="0">
                <a:solidFill>
                  <a:srgbClr val="3F3E3E"/>
                </a:solidFill>
                <a:latin typeface="Fira Sans Light"/>
                <a:cs typeface="Fira Sans Light"/>
              </a:rPr>
              <a:t>9</a:t>
            </a:r>
            <a:r>
              <a:rPr dirty="0" sz="2250" spc="-525" b="0">
                <a:solidFill>
                  <a:srgbClr val="3F3E3E"/>
                </a:solidFill>
                <a:latin typeface="Fira Sans Light"/>
                <a:cs typeface="Fira Sans Light"/>
              </a:rPr>
              <a:t>Q</a:t>
            </a:r>
            <a:r>
              <a:rPr dirty="0" sz="2250" spc="45" b="0">
                <a:solidFill>
                  <a:srgbClr val="3F3E3E"/>
                </a:solidFill>
                <a:latin typeface="Fira Sans Light"/>
                <a:cs typeface="Fira Sans Light"/>
              </a:rPr>
              <a:t>.</a:t>
            </a:r>
            <a:r>
              <a:rPr dirty="0" sz="2250" spc="-5" b="0">
                <a:solidFill>
                  <a:srgbClr val="3F3E3E"/>
                </a:solidFill>
                <a:latin typeface="Fira Sans Light"/>
                <a:cs typeface="Fira Sans Light"/>
              </a:rPr>
              <a:t>uick</a:t>
            </a:r>
            <a:r>
              <a:rPr dirty="0" sz="225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Quiz</a:t>
            </a:r>
            <a:r>
              <a:rPr dirty="0" sz="225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25" b="0">
                <a:solidFill>
                  <a:srgbClr val="3F3E3E"/>
                </a:solidFill>
                <a:latin typeface="Fira Sans Light"/>
                <a:cs typeface="Fira Sans Light"/>
              </a:rPr>
              <a:t>or 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Scenario</a:t>
            </a:r>
            <a:endParaRPr sz="2250">
              <a:latin typeface="Fira Sans Light"/>
              <a:cs typeface="Fira Sans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3559" y="4362347"/>
            <a:ext cx="2176780" cy="71945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40"/>
              </a:spcBef>
            </a:pP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6.</a:t>
            </a:r>
            <a:r>
              <a:rPr dirty="0" sz="2250" spc="-1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How</a:t>
            </a:r>
            <a:r>
              <a:rPr dirty="0" sz="2250" spc="-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to</a:t>
            </a:r>
            <a:r>
              <a:rPr dirty="0" sz="2250" spc="-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Protect Yourself</a:t>
            </a:r>
            <a:endParaRPr sz="2250">
              <a:latin typeface="Fira Sans Light"/>
              <a:cs typeface="Fira Sans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3559" y="5752860"/>
            <a:ext cx="2028825" cy="72072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30"/>
              </a:spcBef>
            </a:pPr>
            <a:r>
              <a:rPr dirty="0" sz="2250" spc="-940" b="0">
                <a:solidFill>
                  <a:srgbClr val="3F3E3E"/>
                </a:solidFill>
                <a:latin typeface="Fira Sans Light"/>
                <a:cs typeface="Fira Sans Light"/>
              </a:rPr>
              <a:t>1</a:t>
            </a:r>
            <a:r>
              <a:rPr dirty="0" sz="2250" spc="-290" b="0">
                <a:solidFill>
                  <a:srgbClr val="3F3E3E"/>
                </a:solidFill>
                <a:latin typeface="Fira Sans Light"/>
                <a:cs typeface="Fira Sans Light"/>
              </a:rPr>
              <a:t>S</a:t>
            </a:r>
            <a:r>
              <a:rPr dirty="0" sz="2250" spc="-960" b="0">
                <a:solidFill>
                  <a:srgbClr val="3F3E3E"/>
                </a:solidFill>
                <a:latin typeface="Fira Sans Light"/>
                <a:cs typeface="Fira Sans Light"/>
              </a:rPr>
              <a:t>0</a:t>
            </a:r>
            <a:r>
              <a:rPr dirty="0" sz="2250" spc="-380" b="0">
                <a:solidFill>
                  <a:srgbClr val="3F3E3E"/>
                </a:solidFill>
                <a:latin typeface="Fira Sans Light"/>
                <a:cs typeface="Fira Sans Light"/>
              </a:rPr>
              <a:t>u</a:t>
            </a:r>
            <a:r>
              <a:rPr dirty="0" sz="2250" spc="-105" b="0">
                <a:solidFill>
                  <a:srgbClr val="3F3E3E"/>
                </a:solidFill>
                <a:latin typeface="Fira Sans Light"/>
                <a:cs typeface="Fira Sans Light"/>
              </a:rPr>
              <a:t>.</a:t>
            </a:r>
            <a:r>
              <a:rPr dirty="0" sz="2250" spc="-5" b="0">
                <a:solidFill>
                  <a:srgbClr val="3F3E3E"/>
                </a:solidFill>
                <a:latin typeface="Fira Sans Light"/>
                <a:cs typeface="Fira Sans Light"/>
              </a:rPr>
              <a:t>mmary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 &amp;</a:t>
            </a:r>
            <a:r>
              <a:rPr dirty="0" sz="2250" spc="1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25" b="0">
                <a:solidFill>
                  <a:srgbClr val="3F3E3E"/>
                </a:solidFill>
                <a:latin typeface="Fira Sans Light"/>
                <a:cs typeface="Fira Sans Light"/>
              </a:rPr>
              <a:t>Key 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Takeaways</a:t>
            </a:r>
            <a:endParaRPr sz="2250">
              <a:latin typeface="Fira Sans Light"/>
              <a:cs typeface="Fira Sans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4942" y="2620846"/>
            <a:ext cx="2282825" cy="72199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20"/>
              </a:spcBef>
            </a:pPr>
            <a:r>
              <a:rPr dirty="0" sz="2250" spc="-1110" b="0">
                <a:solidFill>
                  <a:srgbClr val="3F3E3E"/>
                </a:solidFill>
                <a:latin typeface="Fira Sans Light"/>
                <a:cs typeface="Fira Sans Light"/>
              </a:rPr>
              <a:t>3</a:t>
            </a:r>
            <a:r>
              <a:rPr dirty="0" sz="2250" spc="-160" b="0">
                <a:solidFill>
                  <a:srgbClr val="3F3E3E"/>
                </a:solidFill>
                <a:latin typeface="Fira Sans Light"/>
                <a:cs typeface="Fira Sans Light"/>
              </a:rPr>
              <a:t>C</a:t>
            </a:r>
            <a:r>
              <a:rPr dirty="0" sz="2250" spc="-385" b="0">
                <a:solidFill>
                  <a:srgbClr val="3F3E3E"/>
                </a:solidFill>
                <a:latin typeface="Fira Sans Light"/>
                <a:cs typeface="Fira Sans Light"/>
              </a:rPr>
              <a:t>.</a:t>
            </a:r>
            <a:r>
              <a:rPr dirty="0" sz="2250" spc="-15" b="0">
                <a:solidFill>
                  <a:srgbClr val="3F3E3E"/>
                </a:solidFill>
                <a:latin typeface="Fira Sans Light"/>
                <a:cs typeface="Fira Sans Light"/>
              </a:rPr>
              <a:t>ommon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 Types</a:t>
            </a:r>
            <a:r>
              <a:rPr dirty="0" sz="2250" spc="-7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25" b="0">
                <a:solidFill>
                  <a:srgbClr val="3F3E3E"/>
                </a:solidFill>
                <a:latin typeface="Fira Sans Light"/>
                <a:cs typeface="Fira Sans Light"/>
              </a:rPr>
              <a:t>of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Phishing</a:t>
            </a:r>
            <a:r>
              <a:rPr dirty="0" sz="2250" spc="-6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Attacks</a:t>
            </a:r>
            <a:endParaRPr sz="2250">
              <a:latin typeface="Fira Sans Light"/>
              <a:cs typeface="Fira Sans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54942" y="4362347"/>
            <a:ext cx="1851025" cy="107251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30"/>
              </a:spcBef>
            </a:pPr>
            <a:r>
              <a:rPr dirty="0" sz="2250" spc="-1005" b="0">
                <a:solidFill>
                  <a:srgbClr val="3F3E3E"/>
                </a:solidFill>
                <a:latin typeface="Fira Sans Light"/>
                <a:cs typeface="Fira Sans Light"/>
              </a:rPr>
              <a:t>7</a:t>
            </a:r>
            <a:r>
              <a:rPr dirty="0" sz="2250" spc="-760" b="0">
                <a:solidFill>
                  <a:srgbClr val="3F3E3E"/>
                </a:solidFill>
                <a:latin typeface="Fira Sans Light"/>
                <a:cs typeface="Fira Sans Light"/>
              </a:rPr>
              <a:t>H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.</a:t>
            </a:r>
            <a:r>
              <a:rPr dirty="0" sz="2250" spc="-36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ow</a:t>
            </a:r>
            <a:r>
              <a:rPr dirty="0" sz="2250" spc="-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to</a:t>
            </a:r>
            <a:r>
              <a:rPr dirty="0" sz="2250" spc="-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Report Suspicious Emails</a:t>
            </a:r>
            <a:endParaRPr sz="2250">
              <a:latin typeface="Fira Sans Light"/>
              <a:cs typeface="Fira Sans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54942" y="5930786"/>
            <a:ext cx="1607820" cy="107569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20"/>
              </a:spcBef>
            </a:pPr>
            <a:r>
              <a:rPr dirty="0" sz="2250" spc="-944" b="0">
                <a:solidFill>
                  <a:srgbClr val="3F3E3E"/>
                </a:solidFill>
                <a:latin typeface="Fira Sans Light"/>
                <a:cs typeface="Fira Sans Light"/>
              </a:rPr>
              <a:t>1</a:t>
            </a:r>
            <a:r>
              <a:rPr dirty="0" sz="2250" spc="-385" b="0">
                <a:solidFill>
                  <a:srgbClr val="3F3E3E"/>
                </a:solidFill>
                <a:latin typeface="Fira Sans Light"/>
                <a:cs typeface="Fira Sans Light"/>
              </a:rPr>
              <a:t>A</a:t>
            </a:r>
            <a:r>
              <a:rPr dirty="0" sz="2250" spc="-575" b="0">
                <a:solidFill>
                  <a:srgbClr val="3F3E3E"/>
                </a:solidFill>
                <a:latin typeface="Fira Sans Light"/>
                <a:cs typeface="Fira Sans Light"/>
              </a:rPr>
              <a:t>1</a:t>
            </a:r>
            <a:r>
              <a:rPr dirty="0" sz="2250" spc="-755" b="0">
                <a:solidFill>
                  <a:srgbClr val="3F3E3E"/>
                </a:solidFill>
                <a:latin typeface="Fira Sans Light"/>
                <a:cs typeface="Fira Sans Light"/>
              </a:rPr>
              <a:t>d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.</a:t>
            </a:r>
            <a:r>
              <a:rPr dirty="0" sz="2250" spc="-3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ditional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Resources</a:t>
            </a:r>
            <a:r>
              <a:rPr dirty="0" sz="2250" spc="-8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50" b="0">
                <a:solidFill>
                  <a:srgbClr val="3F3E3E"/>
                </a:solidFill>
                <a:latin typeface="Fira Sans Light"/>
                <a:cs typeface="Fira Sans Light"/>
              </a:rPr>
              <a:t>&amp; 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Contacts</a:t>
            </a:r>
            <a:endParaRPr sz="2250">
              <a:latin typeface="Fira Sans Light"/>
              <a:cs typeface="Fira Sans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67170" y="2620846"/>
            <a:ext cx="1887855" cy="72199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20"/>
              </a:spcBef>
            </a:pPr>
            <a:r>
              <a:rPr dirty="0" sz="2250" spc="-1185" b="0">
                <a:solidFill>
                  <a:srgbClr val="3F3E3E"/>
                </a:solidFill>
                <a:latin typeface="Fira Sans Light"/>
                <a:cs typeface="Fira Sans Light"/>
              </a:rPr>
              <a:t>4</a:t>
            </a:r>
            <a:r>
              <a:rPr dirty="0" sz="2250" spc="-365" b="0">
                <a:solidFill>
                  <a:srgbClr val="3F3E3E"/>
                </a:solidFill>
                <a:latin typeface="Fira Sans Light"/>
                <a:cs typeface="Fira Sans Light"/>
              </a:rPr>
              <a:t>H</a:t>
            </a:r>
            <a:r>
              <a:rPr dirty="0" sz="2250" spc="-140" b="0">
                <a:solidFill>
                  <a:srgbClr val="3F3E3E"/>
                </a:solidFill>
                <a:latin typeface="Fira Sans Light"/>
                <a:cs typeface="Fira Sans Light"/>
              </a:rPr>
              <a:t>.</a:t>
            </a:r>
            <a:r>
              <a:rPr dirty="0" sz="2250" spc="-15" b="0">
                <a:solidFill>
                  <a:srgbClr val="3F3E3E"/>
                </a:solidFill>
                <a:latin typeface="Fira Sans Light"/>
                <a:cs typeface="Fira Sans Light"/>
              </a:rPr>
              <a:t>ow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 to</a:t>
            </a:r>
            <a:r>
              <a:rPr dirty="0" sz="2250" spc="-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Spot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50" b="0">
                <a:solidFill>
                  <a:srgbClr val="3F3E3E"/>
                </a:solidFill>
                <a:latin typeface="Fira Sans Light"/>
                <a:cs typeface="Fira Sans Light"/>
              </a:rPr>
              <a:t>a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Phishing</a:t>
            </a:r>
            <a:r>
              <a:rPr dirty="0" sz="2250" spc="-6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Email</a:t>
            </a:r>
            <a:endParaRPr sz="2250">
              <a:latin typeface="Fira Sans Light"/>
              <a:cs typeface="Fira Sans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67170" y="4362347"/>
            <a:ext cx="1532890" cy="72072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30"/>
              </a:spcBef>
            </a:pPr>
            <a:r>
              <a:rPr dirty="0" sz="2250" spc="-1140" b="0">
                <a:solidFill>
                  <a:srgbClr val="3F3E3E"/>
                </a:solidFill>
                <a:latin typeface="Fira Sans Light"/>
                <a:cs typeface="Fira Sans Light"/>
              </a:rPr>
              <a:t>8</a:t>
            </a:r>
            <a:r>
              <a:rPr dirty="0" sz="2250" spc="10" b="0">
                <a:solidFill>
                  <a:srgbClr val="3F3E3E"/>
                </a:solidFill>
                <a:latin typeface="Fira Sans Light"/>
                <a:cs typeface="Fira Sans Light"/>
              </a:rPr>
              <a:t>P</a:t>
            </a:r>
            <a:r>
              <a:rPr dirty="0" sz="2250" spc="-350" b="0">
                <a:solidFill>
                  <a:srgbClr val="3F3E3E"/>
                </a:solidFill>
                <a:latin typeface="Fira Sans Light"/>
                <a:cs typeface="Fira Sans Light"/>
              </a:rPr>
              <a:t>.</a:t>
            </a:r>
            <a:r>
              <a:rPr dirty="0" sz="2250" spc="90" b="0">
                <a:solidFill>
                  <a:srgbClr val="3F3E3E"/>
                </a:solidFill>
                <a:latin typeface="Fira Sans Light"/>
                <a:cs typeface="Fira Sans Light"/>
              </a:rPr>
              <a:t>hishing</a:t>
            </a:r>
            <a:r>
              <a:rPr dirty="0" sz="2250" spc="-8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Simulations</a:t>
            </a:r>
            <a:endParaRPr sz="2250">
              <a:latin typeface="Fira Sans Light"/>
              <a:cs typeface="Fira Sans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67170" y="5930786"/>
            <a:ext cx="2658745" cy="368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12.</a:t>
            </a:r>
            <a:r>
              <a:rPr dirty="0" sz="2250" spc="-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Thank</a:t>
            </a:r>
            <a:r>
              <a:rPr dirty="0" sz="2250" spc="-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You</a:t>
            </a:r>
            <a:r>
              <a:rPr dirty="0" sz="2250" spc="-5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&amp;</a:t>
            </a:r>
            <a:r>
              <a:rPr dirty="0" sz="2250" spc="-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250" spc="-25" b="0">
                <a:solidFill>
                  <a:srgbClr val="3F3E3E"/>
                </a:solidFill>
                <a:latin typeface="Fira Sans Light"/>
                <a:cs typeface="Fira Sans Light"/>
              </a:rPr>
              <a:t>Q&amp;A</a:t>
            </a:r>
            <a:endParaRPr sz="225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6064" y="0"/>
            <a:ext cx="4974335" cy="822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515" y="3392410"/>
            <a:ext cx="466345" cy="4663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515" y="5632703"/>
            <a:ext cx="466345" cy="4663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37747" y="3392410"/>
            <a:ext cx="466345" cy="4663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7747" y="5632703"/>
            <a:ext cx="466345" cy="46634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65395" y="5643257"/>
            <a:ext cx="1835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0">
                <a:solidFill>
                  <a:srgbClr val="FFFFFF"/>
                </a:solidFill>
                <a:latin typeface="Fira Sans Light"/>
                <a:cs typeface="Fira Sans Light"/>
              </a:rPr>
              <a:t>4</a:t>
            </a:r>
            <a:endParaRPr sz="2400">
              <a:latin typeface="Fira Sans Light"/>
              <a:cs typeface="Fira Sans Ligh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1.</a:t>
            </a:r>
            <a:r>
              <a:rPr dirty="0" spc="-40"/>
              <a:t> </a:t>
            </a:r>
            <a:r>
              <a:rPr dirty="0"/>
              <a:t>Introduction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Phishing</a:t>
            </a:r>
            <a:r>
              <a:rPr dirty="0" spc="-40"/>
              <a:t> </a:t>
            </a:r>
            <a:r>
              <a:rPr dirty="0" spc="-10"/>
              <a:t>Awareness</a:t>
            </a:r>
          </a:p>
          <a:p>
            <a:pPr marL="12700">
              <a:lnSpc>
                <a:spcPct val="100000"/>
              </a:lnSpc>
              <a:spcBef>
                <a:spcPts val="4550"/>
              </a:spcBef>
            </a:pPr>
            <a:r>
              <a:rPr dirty="0"/>
              <a:t>Title</a:t>
            </a:r>
            <a:r>
              <a:rPr dirty="0" spc="-15"/>
              <a:t> </a:t>
            </a:r>
            <a:r>
              <a:rPr dirty="0" spc="-10"/>
              <a:t>Slide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29627" y="3396945"/>
            <a:ext cx="4346575" cy="824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86554" algn="l"/>
              </a:tabLst>
            </a:pPr>
            <a:r>
              <a:rPr dirty="0" sz="2400" b="0">
                <a:solidFill>
                  <a:srgbClr val="FFFFFF"/>
                </a:solidFill>
                <a:latin typeface="Fira Sans Light"/>
                <a:cs typeface="Fira Sans Light"/>
              </a:rPr>
              <a:t>1</a:t>
            </a:r>
            <a:r>
              <a:rPr dirty="0" sz="2400" spc="20" b="0">
                <a:solidFill>
                  <a:srgbClr val="FFFFFF"/>
                </a:solidFill>
                <a:latin typeface="Fira Sans Light"/>
                <a:cs typeface="Fira Sans Light"/>
              </a:rPr>
              <a:t> </a:t>
            </a:r>
            <a:r>
              <a:rPr dirty="0" sz="2000" b="0">
                <a:solidFill>
                  <a:srgbClr val="3F3E3E"/>
                </a:solidFill>
                <a:latin typeface="Fira Sans Light"/>
                <a:cs typeface="Fira Sans Light"/>
              </a:rPr>
              <a:t>Slide</a:t>
            </a:r>
            <a:r>
              <a:rPr dirty="0" sz="200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000" spc="-20" b="0">
                <a:solidFill>
                  <a:srgbClr val="3F3E3E"/>
                </a:solidFill>
                <a:latin typeface="Fira Sans Light"/>
                <a:cs typeface="Fira Sans Light"/>
              </a:rPr>
              <a:t>Title</a:t>
            </a:r>
            <a:r>
              <a:rPr dirty="0" sz="2000" b="0">
                <a:solidFill>
                  <a:srgbClr val="3F3E3E"/>
                </a:solidFill>
                <a:latin typeface="Fira Sans Light"/>
                <a:cs typeface="Fira Sans Light"/>
              </a:rPr>
              <a:t>	</a:t>
            </a:r>
            <a:r>
              <a:rPr dirty="0" baseline="-2314" sz="3600" spc="-75" b="0">
                <a:solidFill>
                  <a:srgbClr val="FFFFFF"/>
                </a:solidFill>
                <a:latin typeface="Fira Sans Light"/>
                <a:cs typeface="Fira Sans Light"/>
              </a:rPr>
              <a:t>2</a:t>
            </a:r>
            <a:endParaRPr baseline="-2314" sz="3600">
              <a:latin typeface="Fira Sans Light"/>
              <a:cs typeface="Fira Sans Light"/>
            </a:endParaRPr>
          </a:p>
          <a:p>
            <a:pPr algn="ctr" marR="501015">
              <a:lnSpc>
                <a:spcPct val="100000"/>
              </a:lnSpc>
              <a:spcBef>
                <a:spcPts val="1545"/>
              </a:spcBef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“Phishing</a:t>
            </a:r>
            <a:r>
              <a:rPr dirty="0" sz="155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Awareness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Training”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9627" y="5632145"/>
            <a:ext cx="3428365" cy="1518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FFFFFF"/>
                </a:solidFill>
                <a:latin typeface="Fira Sans Light"/>
                <a:cs typeface="Fira Sans Light"/>
              </a:rPr>
              <a:t>3</a:t>
            </a:r>
            <a:r>
              <a:rPr dirty="0" sz="2400" spc="-35" b="0">
                <a:solidFill>
                  <a:srgbClr val="FFFFFF"/>
                </a:solidFill>
                <a:latin typeface="Fira Sans Light"/>
                <a:cs typeface="Fira Sans Light"/>
              </a:rPr>
              <a:t> </a:t>
            </a:r>
            <a:r>
              <a:rPr dirty="0" sz="2000" b="0">
                <a:solidFill>
                  <a:srgbClr val="3F3E3E"/>
                </a:solidFill>
                <a:latin typeface="Fira Sans Light"/>
                <a:cs typeface="Fira Sans Light"/>
              </a:rPr>
              <a:t>Talking</a:t>
            </a:r>
            <a:r>
              <a:rPr dirty="0" sz="2000" spc="-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000" spc="-10" b="0">
                <a:solidFill>
                  <a:srgbClr val="3F3E3E"/>
                </a:solidFill>
                <a:latin typeface="Fira Sans Light"/>
                <a:cs typeface="Fira Sans Light"/>
              </a:rPr>
              <a:t>Points</a:t>
            </a:r>
            <a:endParaRPr sz="2000">
              <a:latin typeface="Fira Sans Light"/>
              <a:cs typeface="Fira Sans Light"/>
            </a:endParaRPr>
          </a:p>
          <a:p>
            <a:pPr marL="534035" marR="5080">
              <a:lnSpc>
                <a:spcPct val="109000"/>
              </a:lnSpc>
              <a:spcBef>
                <a:spcPts val="1380"/>
              </a:spcBef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W</a:t>
            </a:r>
            <a:r>
              <a:rPr dirty="0" sz="1550" spc="-765" b="0">
                <a:solidFill>
                  <a:srgbClr val="3F3E3E"/>
                </a:solidFill>
                <a:latin typeface="Fira Sans Light"/>
                <a:cs typeface="Fira Sans Light"/>
              </a:rPr>
              <a:t>h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•</a:t>
            </a:r>
            <a:r>
              <a:rPr dirty="0" sz="1550" spc="-114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y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phishing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is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a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major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security threat</a:t>
            </a:r>
            <a:endParaRPr sz="1550">
              <a:latin typeface="Fira Sans Light"/>
              <a:cs typeface="Fira Sans Light"/>
            </a:endParaRPr>
          </a:p>
          <a:p>
            <a:pPr marL="868044" indent="-153035">
              <a:lnSpc>
                <a:spcPct val="100000"/>
              </a:lnSpc>
              <a:spcBef>
                <a:spcPts val="1575"/>
              </a:spcBef>
              <a:buChar char="•"/>
              <a:tabLst>
                <a:tab pos="868044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What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the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training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will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20" b="0">
                <a:solidFill>
                  <a:srgbClr val="3F3E3E"/>
                </a:solidFill>
                <a:latin typeface="Fira Sans Light"/>
                <a:cs typeface="Fira Sans Light"/>
              </a:rPr>
              <a:t>cover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6968" y="3444570"/>
            <a:ext cx="2873375" cy="15163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 b="0">
                <a:solidFill>
                  <a:srgbClr val="3F3E3E"/>
                </a:solidFill>
                <a:latin typeface="Fira Sans Light"/>
                <a:cs typeface="Fira Sans Light"/>
              </a:rPr>
              <a:t>Content</a:t>
            </a:r>
            <a:endParaRPr sz="2000">
              <a:latin typeface="Fira Sans Light"/>
              <a:cs typeface="Fira Sans Light"/>
            </a:endParaRPr>
          </a:p>
          <a:p>
            <a:pPr marL="180340" marR="222885" indent="-168275">
              <a:lnSpc>
                <a:spcPct val="109000"/>
              </a:lnSpc>
              <a:spcBef>
                <a:spcPts val="1470"/>
              </a:spcBef>
              <a:buFont typeface="DejaVu Serif"/>
              <a:buChar char="•"/>
              <a:tabLst>
                <a:tab pos="182880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Your</a:t>
            </a:r>
            <a:r>
              <a:rPr dirty="0" sz="1550" spc="-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company/organization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	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name</a:t>
            </a:r>
            <a:r>
              <a:rPr dirty="0" sz="155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&amp;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20" b="0">
                <a:solidFill>
                  <a:srgbClr val="3F3E3E"/>
                </a:solidFill>
                <a:latin typeface="Fira Sans Light"/>
                <a:cs typeface="Fira Sans Light"/>
              </a:rPr>
              <a:t>logo</a:t>
            </a:r>
            <a:endParaRPr sz="1550">
              <a:latin typeface="Fira Sans Light"/>
              <a:cs typeface="Fira Sans Light"/>
            </a:endParaRPr>
          </a:p>
          <a:p>
            <a:pPr lvl="1" marL="351155" indent="-168275">
              <a:lnSpc>
                <a:spcPct val="100000"/>
              </a:lnSpc>
              <a:spcBef>
                <a:spcPts val="30"/>
              </a:spcBef>
              <a:buFont typeface="DejaVu Serif"/>
              <a:buChar char="•"/>
              <a:tabLst>
                <a:tab pos="351155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Trainer</a:t>
            </a:r>
            <a:r>
              <a:rPr dirty="0" sz="155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name</a:t>
            </a:r>
            <a:r>
              <a:rPr dirty="0" sz="155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and</a:t>
            </a:r>
            <a:r>
              <a:rPr dirty="0" sz="155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20" b="0">
                <a:solidFill>
                  <a:srgbClr val="3F3E3E"/>
                </a:solidFill>
                <a:latin typeface="Fira Sans Light"/>
                <a:cs typeface="Fira Sans Light"/>
              </a:rPr>
              <a:t>date</a:t>
            </a:r>
            <a:endParaRPr sz="1550">
              <a:latin typeface="Fira Sans Light"/>
              <a:cs typeface="Fira Sans Light"/>
            </a:endParaRPr>
          </a:p>
          <a:p>
            <a:pPr lvl="1" marL="351155" indent="-168275">
              <a:lnSpc>
                <a:spcPct val="100000"/>
              </a:lnSpc>
              <a:spcBef>
                <a:spcPts val="30"/>
              </a:spcBef>
              <a:buFont typeface="DejaVu Serif"/>
              <a:buChar char="•"/>
              <a:tabLst>
                <a:tab pos="351155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Brief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purpose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of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the</a:t>
            </a:r>
            <a:r>
              <a:rPr dirty="0" sz="155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session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6971" y="5679770"/>
            <a:ext cx="3122930" cy="12579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 b="0">
                <a:solidFill>
                  <a:srgbClr val="3F3E3E"/>
                </a:solidFill>
                <a:latin typeface="Fira Sans Light"/>
                <a:cs typeface="Fira Sans Light"/>
              </a:rPr>
              <a:t>Visuals</a:t>
            </a:r>
            <a:endParaRPr sz="2000">
              <a:latin typeface="Fira Sans Light"/>
              <a:cs typeface="Fira Sans Light"/>
            </a:endParaRPr>
          </a:p>
          <a:p>
            <a:pPr marL="361950" indent="-168275">
              <a:lnSpc>
                <a:spcPct val="100000"/>
              </a:lnSpc>
              <a:spcBef>
                <a:spcPts val="1625"/>
              </a:spcBef>
              <a:buFont typeface="DejaVu Serif"/>
              <a:buChar char="•"/>
              <a:tabLst>
                <a:tab pos="361950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Company</a:t>
            </a:r>
            <a:r>
              <a:rPr dirty="0" sz="1550" spc="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20" b="0">
                <a:solidFill>
                  <a:srgbClr val="3F3E3E"/>
                </a:solidFill>
                <a:latin typeface="Fira Sans Light"/>
                <a:cs typeface="Fira Sans Light"/>
              </a:rPr>
              <a:t>logo</a:t>
            </a:r>
            <a:endParaRPr sz="1550">
              <a:latin typeface="Fira Sans Light"/>
              <a:cs typeface="Fira Sans Light"/>
            </a:endParaRPr>
          </a:p>
          <a:p>
            <a:pPr marL="361315" marR="5080" indent="-168275">
              <a:lnSpc>
                <a:spcPct val="101800"/>
              </a:lnSpc>
              <a:buFont typeface="DejaVu Serif"/>
              <a:buChar char="•"/>
              <a:tabLst>
                <a:tab pos="363855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A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simple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lock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or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phishing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20" b="0">
                <a:solidFill>
                  <a:srgbClr val="3F3E3E"/>
                </a:solidFill>
                <a:latin typeface="Fira Sans Light"/>
                <a:cs typeface="Fira Sans Light"/>
              </a:rPr>
              <a:t>hook 	icon</a:t>
            </a:r>
            <a:endParaRPr sz="155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852066" cy="822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7688" y="2889504"/>
            <a:ext cx="3502146" cy="19933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47688" y="5093194"/>
            <a:ext cx="3502146" cy="19933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50995" y="2889504"/>
            <a:ext cx="3502139" cy="19933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0995" y="5093195"/>
            <a:ext cx="3502139" cy="1993366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639306" y="872670"/>
            <a:ext cx="4439285" cy="17653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4500"/>
              </a:lnSpc>
              <a:spcBef>
                <a:spcPts val="95"/>
              </a:spcBef>
            </a:pPr>
            <a:r>
              <a:rPr dirty="0" sz="3950"/>
              <a:t>2.</a:t>
            </a:r>
            <a:r>
              <a:rPr dirty="0" sz="3950" spc="15"/>
              <a:t> </a:t>
            </a:r>
            <a:r>
              <a:rPr dirty="0" sz="3950"/>
              <a:t>What</a:t>
            </a:r>
            <a:r>
              <a:rPr dirty="0" sz="3950" spc="15"/>
              <a:t> </a:t>
            </a:r>
            <a:r>
              <a:rPr dirty="0" sz="3950"/>
              <a:t>is</a:t>
            </a:r>
            <a:r>
              <a:rPr dirty="0" sz="3950" spc="10"/>
              <a:t> </a:t>
            </a:r>
            <a:r>
              <a:rPr dirty="0" sz="3950" spc="-10"/>
              <a:t>Phishing? Definition</a:t>
            </a:r>
            <a:endParaRPr sz="3950"/>
          </a:p>
        </p:txBody>
      </p:sp>
      <p:sp>
        <p:nvSpPr>
          <p:cNvPr id="8" name="object 8"/>
          <p:cNvSpPr txBox="1"/>
          <p:nvPr/>
        </p:nvSpPr>
        <p:spPr>
          <a:xfrm>
            <a:off x="6849732" y="2901177"/>
            <a:ext cx="1778000" cy="892175"/>
          </a:xfrm>
          <a:prstGeom prst="rect">
            <a:avLst/>
          </a:prstGeom>
        </p:spPr>
        <p:txBody>
          <a:bodyPr wrap="square" lIns="0" tIns="194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2000" b="0">
                <a:solidFill>
                  <a:srgbClr val="CDCBCB"/>
                </a:solidFill>
                <a:latin typeface="Fira Sans Light"/>
                <a:cs typeface="Fira Sans Light"/>
              </a:rPr>
              <a:t>Slide</a:t>
            </a:r>
            <a:r>
              <a:rPr dirty="0" sz="2000" spc="45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2000" spc="-20" b="0">
                <a:solidFill>
                  <a:srgbClr val="CDCBCB"/>
                </a:solidFill>
                <a:latin typeface="Fira Sans Light"/>
                <a:cs typeface="Fira Sans Light"/>
              </a:rPr>
              <a:t>Title</a:t>
            </a:r>
            <a:endParaRPr sz="2000">
              <a:latin typeface="Fira Sans Light"/>
              <a:cs typeface="Fira Sans Light"/>
            </a:endParaRPr>
          </a:p>
          <a:p>
            <a:pPr marL="60325">
              <a:lnSpc>
                <a:spcPct val="100000"/>
              </a:lnSpc>
              <a:spcBef>
                <a:spcPts val="1125"/>
              </a:spcBef>
            </a:pP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“What</a:t>
            </a:r>
            <a:r>
              <a:rPr dirty="0" sz="1550" spc="3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is</a:t>
            </a:r>
            <a:r>
              <a:rPr dirty="0" sz="1550" spc="3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CDCBCB"/>
                </a:solidFill>
                <a:latin typeface="Fira Sans Light"/>
                <a:cs typeface="Fira Sans Light"/>
              </a:rPr>
              <a:t>Phishing?”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9729" y="5094649"/>
            <a:ext cx="2746375" cy="1668145"/>
          </a:xfrm>
          <a:prstGeom prst="rect">
            <a:avLst/>
          </a:prstGeom>
        </p:spPr>
        <p:txBody>
          <a:bodyPr wrap="square" lIns="0" tIns="196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2000" b="0">
                <a:solidFill>
                  <a:srgbClr val="797777"/>
                </a:solidFill>
                <a:latin typeface="Fira Sans Light"/>
                <a:cs typeface="Fira Sans Light"/>
              </a:rPr>
              <a:t>Talking</a:t>
            </a:r>
            <a:r>
              <a:rPr dirty="0" sz="2000" spc="-55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2000" spc="-10" b="0">
                <a:solidFill>
                  <a:srgbClr val="797777"/>
                </a:solidFill>
                <a:latin typeface="Fira Sans Light"/>
                <a:cs typeface="Fira Sans Light"/>
              </a:rPr>
              <a:t>Points</a:t>
            </a:r>
            <a:endParaRPr sz="2000">
              <a:latin typeface="Fira Sans Light"/>
              <a:cs typeface="Fira Sans Light"/>
            </a:endParaRPr>
          </a:p>
          <a:p>
            <a:pPr marL="180340" marR="147320" indent="-168275">
              <a:lnSpc>
                <a:spcPct val="109000"/>
              </a:lnSpc>
              <a:spcBef>
                <a:spcPts val="969"/>
              </a:spcBef>
              <a:buFont typeface="DejaVu Serif"/>
              <a:buChar char="•"/>
              <a:tabLst>
                <a:tab pos="182880" algn="l"/>
              </a:tabLst>
            </a:pPr>
            <a:r>
              <a:rPr dirty="0" sz="1550" b="0">
                <a:solidFill>
                  <a:srgbClr val="797777"/>
                </a:solidFill>
                <a:latin typeface="Fira Sans Light"/>
                <a:cs typeface="Fira Sans Light"/>
              </a:rPr>
              <a:t>Phishing</a:t>
            </a:r>
            <a:r>
              <a:rPr dirty="0" sz="1550" spc="15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797777"/>
                </a:solidFill>
                <a:latin typeface="Fira Sans Light"/>
                <a:cs typeface="Fira Sans Light"/>
              </a:rPr>
              <a:t>is</a:t>
            </a:r>
            <a:r>
              <a:rPr dirty="0" sz="1550" spc="2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797777"/>
                </a:solidFill>
                <a:latin typeface="Fira Sans Light"/>
                <a:cs typeface="Fira Sans Light"/>
              </a:rPr>
              <a:t>a</a:t>
            </a:r>
            <a:r>
              <a:rPr dirty="0" sz="1550" spc="2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797777"/>
                </a:solidFill>
                <a:latin typeface="Fira Sans Light"/>
                <a:cs typeface="Fira Sans Light"/>
              </a:rPr>
              <a:t>form</a:t>
            </a:r>
            <a:r>
              <a:rPr dirty="0" sz="1550" spc="2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797777"/>
                </a:solidFill>
                <a:latin typeface="Fira Sans Light"/>
                <a:cs typeface="Fira Sans Light"/>
              </a:rPr>
              <a:t>of</a:t>
            </a:r>
            <a:r>
              <a:rPr dirty="0" sz="1550" spc="2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797777"/>
                </a:solidFill>
                <a:latin typeface="Fira Sans Light"/>
                <a:cs typeface="Fira Sans Light"/>
              </a:rPr>
              <a:t>social 	engineering</a:t>
            </a:r>
            <a:endParaRPr sz="1550">
              <a:latin typeface="Fira Sans Light"/>
              <a:cs typeface="Fira Sans Light"/>
            </a:endParaRPr>
          </a:p>
          <a:p>
            <a:pPr marL="180340" marR="5080" indent="-168275">
              <a:lnSpc>
                <a:spcPct val="109000"/>
              </a:lnSpc>
              <a:buFont typeface="DejaVu Serif"/>
              <a:buChar char="•"/>
              <a:tabLst>
                <a:tab pos="182880" algn="l"/>
              </a:tabLst>
            </a:pPr>
            <a:r>
              <a:rPr dirty="0" sz="1550" b="0">
                <a:solidFill>
                  <a:srgbClr val="797777"/>
                </a:solidFill>
                <a:latin typeface="Fira Sans Light"/>
                <a:cs typeface="Fira Sans Light"/>
              </a:rPr>
              <a:t>Commonly</a:t>
            </a:r>
            <a:r>
              <a:rPr dirty="0" sz="1550" spc="4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797777"/>
                </a:solidFill>
                <a:latin typeface="Fira Sans Light"/>
                <a:cs typeface="Fira Sans Light"/>
              </a:rPr>
              <a:t>uses</a:t>
            </a:r>
            <a:r>
              <a:rPr dirty="0" sz="1550" spc="4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797777"/>
                </a:solidFill>
                <a:latin typeface="Fira Sans Light"/>
                <a:cs typeface="Fira Sans Light"/>
              </a:rPr>
              <a:t>emails,</a:t>
            </a:r>
            <a:r>
              <a:rPr dirty="0" sz="1550" spc="4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550" spc="-20" b="0">
                <a:solidFill>
                  <a:srgbClr val="797777"/>
                </a:solidFill>
                <a:latin typeface="Fira Sans Light"/>
                <a:cs typeface="Fira Sans Light"/>
              </a:rPr>
              <a:t>SMS, </a:t>
            </a:r>
            <a:r>
              <a:rPr dirty="0" sz="1550" spc="-20" b="0">
                <a:solidFill>
                  <a:srgbClr val="797777"/>
                </a:solidFill>
                <a:latin typeface="Fira Sans Light"/>
                <a:cs typeface="Fira Sans Light"/>
              </a:rPr>
              <a:t>	</a:t>
            </a:r>
            <a:r>
              <a:rPr dirty="0" sz="1550" b="0">
                <a:solidFill>
                  <a:srgbClr val="797777"/>
                </a:solidFill>
                <a:latin typeface="Fira Sans Light"/>
                <a:cs typeface="Fira Sans Light"/>
              </a:rPr>
              <a:t>fake</a:t>
            </a:r>
            <a:r>
              <a:rPr dirty="0" sz="1550" spc="25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797777"/>
                </a:solidFill>
                <a:latin typeface="Fira Sans Light"/>
                <a:cs typeface="Fira Sans Light"/>
              </a:rPr>
              <a:t>websites,</a:t>
            </a:r>
            <a:r>
              <a:rPr dirty="0" sz="1550" spc="3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797777"/>
                </a:solidFill>
                <a:latin typeface="Fira Sans Light"/>
                <a:cs typeface="Fira Sans Light"/>
              </a:rPr>
              <a:t>or</a:t>
            </a:r>
            <a:r>
              <a:rPr dirty="0" sz="1550" spc="3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797777"/>
                </a:solidFill>
                <a:latin typeface="Fira Sans Light"/>
                <a:cs typeface="Fira Sans Light"/>
              </a:rPr>
              <a:t>calls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46315" y="2901177"/>
            <a:ext cx="2970530" cy="1783080"/>
          </a:xfrm>
          <a:prstGeom prst="rect">
            <a:avLst/>
          </a:prstGeom>
        </p:spPr>
        <p:txBody>
          <a:bodyPr wrap="square" lIns="0" tIns="194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2000" spc="-10" b="0">
                <a:solidFill>
                  <a:srgbClr val="ACAAAA"/>
                </a:solidFill>
                <a:latin typeface="Fira Sans Light"/>
                <a:cs typeface="Fira Sans Light"/>
              </a:rPr>
              <a:t>Content</a:t>
            </a:r>
            <a:endParaRPr sz="2000">
              <a:latin typeface="Fira Sans Light"/>
              <a:cs typeface="Fira Sans Light"/>
            </a:endParaRPr>
          </a:p>
          <a:p>
            <a:pPr marL="361950" indent="-168275">
              <a:lnSpc>
                <a:spcPct val="100000"/>
              </a:lnSpc>
              <a:spcBef>
                <a:spcPts val="1125"/>
              </a:spcBef>
              <a:buFont typeface="DejaVu Serif"/>
              <a:buChar char="•"/>
              <a:tabLst>
                <a:tab pos="361950" algn="l"/>
              </a:tabLst>
            </a:pPr>
            <a:r>
              <a:rPr dirty="0" sz="1550" b="0">
                <a:solidFill>
                  <a:srgbClr val="ACAAAA"/>
                </a:solidFill>
                <a:latin typeface="Fira Sans Light"/>
                <a:cs typeface="Fira Sans Light"/>
              </a:rPr>
              <a:t>Definition</a:t>
            </a:r>
            <a:r>
              <a:rPr dirty="0" sz="1550" spc="4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ACAAAA"/>
                </a:solidFill>
                <a:latin typeface="Fira Sans Light"/>
                <a:cs typeface="Fira Sans Light"/>
              </a:rPr>
              <a:t>of</a:t>
            </a:r>
            <a:r>
              <a:rPr dirty="0" sz="1550" spc="4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ACAAAA"/>
                </a:solidFill>
                <a:latin typeface="Fira Sans Light"/>
                <a:cs typeface="Fira Sans Light"/>
              </a:rPr>
              <a:t>phishing</a:t>
            </a:r>
            <a:endParaRPr sz="1550">
              <a:latin typeface="Fira Sans Light"/>
              <a:cs typeface="Fira Sans Light"/>
            </a:endParaRPr>
          </a:p>
          <a:p>
            <a:pPr marL="180340" marR="5080" indent="-168275">
              <a:lnSpc>
                <a:spcPct val="109000"/>
              </a:lnSpc>
              <a:spcBef>
                <a:spcPts val="935"/>
              </a:spcBef>
              <a:buFont typeface="DejaVu Serif"/>
              <a:buChar char="•"/>
              <a:tabLst>
                <a:tab pos="182245" algn="l"/>
              </a:tabLst>
            </a:pPr>
            <a:r>
              <a:rPr dirty="0" sz="1550" b="0">
                <a:solidFill>
                  <a:srgbClr val="ACAAAA"/>
                </a:solidFill>
                <a:latin typeface="Fira Sans Light"/>
                <a:cs typeface="Fira Sans Light"/>
              </a:rPr>
              <a:t>How</a:t>
            </a:r>
            <a:r>
              <a:rPr dirty="0" sz="1550" spc="4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ACAAAA"/>
                </a:solidFill>
                <a:latin typeface="Fira Sans Light"/>
                <a:cs typeface="Fira Sans Light"/>
              </a:rPr>
              <a:t>attackers</a:t>
            </a:r>
            <a:r>
              <a:rPr dirty="0" sz="1550" spc="4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ACAAAA"/>
                </a:solidFill>
                <a:latin typeface="Fira Sans Light"/>
                <a:cs typeface="Fira Sans Light"/>
              </a:rPr>
              <a:t>trick</a:t>
            </a:r>
            <a:r>
              <a:rPr dirty="0" sz="1550" spc="4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ACAAAA"/>
                </a:solidFill>
                <a:latin typeface="Fira Sans Light"/>
                <a:cs typeface="Fira Sans Light"/>
              </a:rPr>
              <a:t>people</a:t>
            </a:r>
            <a:r>
              <a:rPr dirty="0" sz="1550" spc="4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550" spc="-20" b="0">
                <a:solidFill>
                  <a:srgbClr val="ACAAAA"/>
                </a:solidFill>
                <a:latin typeface="Fira Sans Light"/>
                <a:cs typeface="Fira Sans Light"/>
              </a:rPr>
              <a:t>into </a:t>
            </a:r>
            <a:r>
              <a:rPr dirty="0" sz="1550" spc="-20" b="0">
                <a:solidFill>
                  <a:srgbClr val="ACAAAA"/>
                </a:solidFill>
                <a:latin typeface="Fira Sans Light"/>
                <a:cs typeface="Fira Sans Light"/>
              </a:rPr>
              <a:t>	</a:t>
            </a:r>
            <a:r>
              <a:rPr dirty="0" sz="1550" b="0">
                <a:solidFill>
                  <a:srgbClr val="ACAAAA"/>
                </a:solidFill>
                <a:latin typeface="Fira Sans Light"/>
                <a:cs typeface="Fira Sans Light"/>
              </a:rPr>
              <a:t>revealing</a:t>
            </a:r>
            <a:r>
              <a:rPr dirty="0" sz="1550" spc="4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ACAAAA"/>
                </a:solidFill>
                <a:latin typeface="Fira Sans Light"/>
                <a:cs typeface="Fira Sans Light"/>
              </a:rPr>
              <a:t>information</a:t>
            </a:r>
            <a:r>
              <a:rPr dirty="0" sz="1550" spc="5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550" spc="-25" b="0">
                <a:solidFill>
                  <a:srgbClr val="ACAAAA"/>
                </a:solidFill>
                <a:latin typeface="Fira Sans Light"/>
                <a:cs typeface="Fira Sans Light"/>
              </a:rPr>
              <a:t>or </a:t>
            </a:r>
            <a:r>
              <a:rPr dirty="0" sz="1550" spc="-25" b="0">
                <a:solidFill>
                  <a:srgbClr val="ACAAAA"/>
                </a:solidFill>
                <a:latin typeface="Fira Sans Light"/>
                <a:cs typeface="Fira Sans Light"/>
              </a:rPr>
              <a:t>	</a:t>
            </a:r>
            <a:r>
              <a:rPr dirty="0" sz="1550" b="0">
                <a:solidFill>
                  <a:srgbClr val="ACAAAA"/>
                </a:solidFill>
                <a:latin typeface="Fira Sans Light"/>
                <a:cs typeface="Fira Sans Light"/>
              </a:rPr>
              <a:t>downloading</a:t>
            </a:r>
            <a:r>
              <a:rPr dirty="0" sz="1550" spc="7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ACAAAA"/>
                </a:solidFill>
                <a:latin typeface="Fira Sans Light"/>
                <a:cs typeface="Fira Sans Light"/>
              </a:rPr>
              <a:t>malware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46317" y="5094649"/>
            <a:ext cx="2947035" cy="1393190"/>
          </a:xfrm>
          <a:prstGeom prst="rect">
            <a:avLst/>
          </a:prstGeom>
        </p:spPr>
        <p:txBody>
          <a:bodyPr wrap="square" lIns="0" tIns="196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2000" spc="-10" b="0">
                <a:solidFill>
                  <a:srgbClr val="CDCBCB"/>
                </a:solidFill>
                <a:latin typeface="Fira Sans Light"/>
                <a:cs typeface="Fira Sans Light"/>
              </a:rPr>
              <a:t>Visuals</a:t>
            </a:r>
            <a:endParaRPr sz="2000">
              <a:latin typeface="Fira Sans Light"/>
              <a:cs typeface="Fira Sans Light"/>
            </a:endParaRPr>
          </a:p>
          <a:p>
            <a:pPr marL="180975" indent="-168275">
              <a:lnSpc>
                <a:spcPct val="100000"/>
              </a:lnSpc>
              <a:spcBef>
                <a:spcPts val="1140"/>
              </a:spcBef>
              <a:buFont typeface="DejaVu Serif"/>
              <a:buChar char="•"/>
              <a:tabLst>
                <a:tab pos="180975" algn="l"/>
              </a:tabLst>
            </a:pP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Diagram</a:t>
            </a:r>
            <a:r>
              <a:rPr dirty="0" sz="1550" spc="5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showing</a:t>
            </a:r>
            <a:r>
              <a:rPr dirty="0" sz="1550" spc="55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attacker</a:t>
            </a:r>
            <a:r>
              <a:rPr dirty="0" sz="1550" spc="5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spc="-50" b="0">
                <a:solidFill>
                  <a:srgbClr val="CDCBCB"/>
                </a:solidFill>
                <a:latin typeface="Fira Sans Light"/>
                <a:cs typeface="Fira Sans Light"/>
              </a:rPr>
              <a:t>→</a:t>
            </a:r>
            <a:endParaRPr sz="1550">
              <a:latin typeface="Fira Sans Light"/>
              <a:cs typeface="Fira Sans Light"/>
            </a:endParaRPr>
          </a:p>
          <a:p>
            <a:pPr marL="182880">
              <a:lnSpc>
                <a:spcPct val="100000"/>
              </a:lnSpc>
              <a:spcBef>
                <a:spcPts val="165"/>
              </a:spcBef>
            </a:pP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fake</a:t>
            </a:r>
            <a:r>
              <a:rPr dirty="0" sz="1550" spc="25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email</a:t>
            </a:r>
            <a:r>
              <a:rPr dirty="0" sz="1550" spc="25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→</a:t>
            </a:r>
            <a:r>
              <a:rPr dirty="0" sz="1550" spc="25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CDCBCB"/>
                </a:solidFill>
                <a:latin typeface="Fira Sans Light"/>
                <a:cs typeface="Fira Sans Light"/>
              </a:rPr>
              <a:t>victim</a:t>
            </a:r>
            <a:endParaRPr sz="1550">
              <a:latin typeface="Fira Sans Light"/>
              <a:cs typeface="Fira Sans Light"/>
            </a:endParaRPr>
          </a:p>
          <a:p>
            <a:pPr lvl="1" marL="351155" indent="-168275">
              <a:lnSpc>
                <a:spcPct val="100000"/>
              </a:lnSpc>
              <a:spcBef>
                <a:spcPts val="35"/>
              </a:spcBef>
              <a:buFont typeface="DejaVu Serif"/>
              <a:buChar char="•"/>
              <a:tabLst>
                <a:tab pos="351155" algn="l"/>
              </a:tabLst>
            </a:pP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Icon</a:t>
            </a:r>
            <a:r>
              <a:rPr dirty="0" sz="1550" spc="3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of</a:t>
            </a:r>
            <a:r>
              <a:rPr dirty="0" sz="1550" spc="3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envelope</a:t>
            </a:r>
            <a:r>
              <a:rPr dirty="0" sz="1550" spc="3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with</a:t>
            </a:r>
            <a:r>
              <a:rPr dirty="0" sz="1550" spc="35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CDCBCB"/>
                </a:solidFill>
                <a:latin typeface="Fira Sans Light"/>
                <a:cs typeface="Fira Sans Light"/>
              </a:rPr>
              <a:t>a</a:t>
            </a:r>
            <a:r>
              <a:rPr dirty="0" sz="1550" spc="3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550" spc="-20" b="0">
                <a:solidFill>
                  <a:srgbClr val="CDCBCB"/>
                </a:solidFill>
                <a:latin typeface="Fira Sans Light"/>
                <a:cs typeface="Fira Sans Light"/>
              </a:rPr>
              <a:t>hook</a:t>
            </a:r>
            <a:endParaRPr sz="155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6064" y="0"/>
            <a:ext cx="4974335" cy="822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371" y="2112264"/>
            <a:ext cx="8101652" cy="1271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6371" y="3483864"/>
            <a:ext cx="8101652" cy="20756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6371" y="5650992"/>
            <a:ext cx="8101647" cy="15453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1832" y="2267699"/>
            <a:ext cx="374891" cy="3748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1832" y="3630155"/>
            <a:ext cx="374891" cy="37489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1832" y="5806440"/>
            <a:ext cx="374891" cy="3748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29627" y="3700157"/>
            <a:ext cx="3649979" cy="1706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100"/>
              </a:spcBef>
            </a:pPr>
            <a:r>
              <a:rPr dirty="0" sz="1350" spc="-50" b="0">
                <a:solidFill>
                  <a:srgbClr val="FFFFFF"/>
                </a:solidFill>
                <a:latin typeface="Fira Sans Light"/>
                <a:cs typeface="Fira Sans Light"/>
              </a:rPr>
              <a:t>2</a:t>
            </a:r>
            <a:endParaRPr sz="135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350">
              <a:latin typeface="Fira Sans Light"/>
              <a:cs typeface="Fira Sans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 b="0">
                <a:solidFill>
                  <a:srgbClr val="ACAAAA"/>
                </a:solidFill>
                <a:latin typeface="Fira Sans Light"/>
                <a:cs typeface="Fira Sans Light"/>
              </a:rPr>
              <a:t>Content</a:t>
            </a:r>
            <a:endParaRPr sz="1200">
              <a:latin typeface="Fira Sans Light"/>
              <a:cs typeface="Fira Sans Light"/>
            </a:endParaRPr>
          </a:p>
          <a:p>
            <a:pPr marL="196215" indent="-69215">
              <a:lnSpc>
                <a:spcPct val="100000"/>
              </a:lnSpc>
              <a:spcBef>
                <a:spcPts val="1035"/>
              </a:spcBef>
              <a:buChar char="•"/>
              <a:tabLst>
                <a:tab pos="196215" algn="l"/>
              </a:tabLst>
            </a:pP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Email</a:t>
            </a:r>
            <a:r>
              <a:rPr dirty="0" sz="950" spc="6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Phishing:Fakeemails</a:t>
            </a:r>
            <a:r>
              <a:rPr dirty="0" sz="950" spc="6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with</a:t>
            </a:r>
            <a:r>
              <a:rPr dirty="0" sz="950" spc="6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malicious</a:t>
            </a:r>
            <a:r>
              <a:rPr dirty="0" sz="950" spc="6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links</a:t>
            </a:r>
            <a:r>
              <a:rPr dirty="0" sz="950" spc="6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or</a:t>
            </a:r>
            <a:r>
              <a:rPr dirty="0" sz="950" spc="6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spc="-10" b="0">
                <a:solidFill>
                  <a:srgbClr val="ACAAAA"/>
                </a:solidFill>
                <a:latin typeface="Fira Sans Light"/>
                <a:cs typeface="Fira Sans Light"/>
              </a:rPr>
              <a:t>attachments</a:t>
            </a:r>
            <a:endParaRPr sz="950">
              <a:latin typeface="Fira Sans Light"/>
              <a:cs typeface="Fira Sans Light"/>
            </a:endParaRPr>
          </a:p>
          <a:p>
            <a:pPr marL="196215" indent="-69215">
              <a:lnSpc>
                <a:spcPct val="100000"/>
              </a:lnSpc>
              <a:spcBef>
                <a:spcPts val="944"/>
              </a:spcBef>
              <a:buChar char="•"/>
              <a:tabLst>
                <a:tab pos="196215" algn="l"/>
              </a:tabLst>
            </a:pP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Spear</a:t>
            </a:r>
            <a:r>
              <a:rPr dirty="0" sz="950" spc="6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Phishing:Targeted</a:t>
            </a:r>
            <a:r>
              <a:rPr dirty="0" sz="950" spc="6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at</a:t>
            </a:r>
            <a:r>
              <a:rPr dirty="0" sz="950" spc="6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individuals</a:t>
            </a:r>
            <a:r>
              <a:rPr dirty="0" sz="950" spc="6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or</a:t>
            </a:r>
            <a:r>
              <a:rPr dirty="0" sz="950" spc="6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spc="-10" b="0">
                <a:solidFill>
                  <a:srgbClr val="ACAAAA"/>
                </a:solidFill>
                <a:latin typeface="Fira Sans Light"/>
                <a:cs typeface="Fira Sans Light"/>
              </a:rPr>
              <a:t>departments</a:t>
            </a:r>
            <a:endParaRPr sz="950">
              <a:latin typeface="Fira Sans Light"/>
              <a:cs typeface="Fira Sans Light"/>
            </a:endParaRPr>
          </a:p>
          <a:p>
            <a:pPr marL="196215" indent="-69215">
              <a:lnSpc>
                <a:spcPct val="100000"/>
              </a:lnSpc>
              <a:spcBef>
                <a:spcPts val="950"/>
              </a:spcBef>
              <a:buChar char="•"/>
              <a:tabLst>
                <a:tab pos="196215" algn="l"/>
              </a:tabLst>
            </a:pP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Whaling:Targets</a:t>
            </a:r>
            <a:r>
              <a:rPr dirty="0" sz="950" spc="6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executives</a:t>
            </a:r>
            <a:r>
              <a:rPr dirty="0" sz="950" spc="6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or</a:t>
            </a:r>
            <a:r>
              <a:rPr dirty="0" sz="950" spc="6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high-value</a:t>
            </a:r>
            <a:r>
              <a:rPr dirty="0" sz="950" spc="6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spc="-10" b="0">
                <a:solidFill>
                  <a:srgbClr val="ACAAAA"/>
                </a:solidFill>
                <a:latin typeface="Fira Sans Light"/>
                <a:cs typeface="Fira Sans Light"/>
              </a:rPr>
              <a:t>personnel</a:t>
            </a:r>
            <a:endParaRPr sz="950">
              <a:latin typeface="Fira Sans Light"/>
              <a:cs typeface="Fira Sans Light"/>
            </a:endParaRPr>
          </a:p>
          <a:p>
            <a:pPr marL="196215" indent="-69215">
              <a:lnSpc>
                <a:spcPct val="100000"/>
              </a:lnSpc>
              <a:spcBef>
                <a:spcPts val="960"/>
              </a:spcBef>
              <a:buChar char="•"/>
              <a:tabLst>
                <a:tab pos="196215" algn="l"/>
              </a:tabLst>
            </a:pP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Smishing</a:t>
            </a:r>
            <a:r>
              <a:rPr dirty="0" sz="950" spc="5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&amp;</a:t>
            </a:r>
            <a:r>
              <a:rPr dirty="0" sz="950" spc="5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Vishing:Via</a:t>
            </a:r>
            <a:r>
              <a:rPr dirty="0" sz="950" spc="5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SMS</a:t>
            </a:r>
            <a:r>
              <a:rPr dirty="0" sz="950" spc="5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or</a:t>
            </a:r>
            <a:r>
              <a:rPr dirty="0" sz="950" spc="5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ACAAAA"/>
                </a:solidFill>
                <a:latin typeface="Fira Sans Light"/>
                <a:cs typeface="Fira Sans Light"/>
              </a:rPr>
              <a:t>phone</a:t>
            </a:r>
            <a:r>
              <a:rPr dirty="0" sz="950" spc="5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950" spc="-10" b="0">
                <a:solidFill>
                  <a:srgbClr val="ACAAAA"/>
                </a:solidFill>
                <a:latin typeface="Fira Sans Light"/>
                <a:cs typeface="Fira Sans Light"/>
              </a:rPr>
              <a:t>calls</a:t>
            </a:r>
            <a:endParaRPr sz="950">
              <a:latin typeface="Fira Sans Light"/>
              <a:cs typeface="Fira Sans Light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83272" y="1047114"/>
            <a:ext cx="5193665" cy="4038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/>
              <a:t>3. Common</a:t>
            </a:r>
            <a:r>
              <a:rPr dirty="0" sz="2450" spc="10"/>
              <a:t> </a:t>
            </a:r>
            <a:r>
              <a:rPr dirty="0" sz="2450"/>
              <a:t>Types</a:t>
            </a:r>
            <a:r>
              <a:rPr dirty="0" sz="2450" spc="10"/>
              <a:t> </a:t>
            </a:r>
            <a:r>
              <a:rPr dirty="0" sz="2450"/>
              <a:t>of</a:t>
            </a:r>
            <a:r>
              <a:rPr dirty="0" sz="2450" spc="10"/>
              <a:t> </a:t>
            </a:r>
            <a:r>
              <a:rPr dirty="0" sz="2450"/>
              <a:t>Phishing</a:t>
            </a:r>
            <a:r>
              <a:rPr dirty="0" sz="2450" spc="15"/>
              <a:t> </a:t>
            </a:r>
            <a:r>
              <a:rPr dirty="0" sz="2450" spc="-10"/>
              <a:t>Attacks</a:t>
            </a:r>
            <a:endParaRPr sz="2450"/>
          </a:p>
        </p:txBody>
      </p:sp>
      <p:sp>
        <p:nvSpPr>
          <p:cNvPr id="11" name="object 11"/>
          <p:cNvSpPr txBox="1"/>
          <p:nvPr/>
        </p:nvSpPr>
        <p:spPr>
          <a:xfrm>
            <a:off x="783272" y="1577670"/>
            <a:ext cx="2458085" cy="16586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b="0">
                <a:solidFill>
                  <a:srgbClr val="060606"/>
                </a:solidFill>
                <a:latin typeface="Fira Sans Light"/>
                <a:cs typeface="Fira Sans Light"/>
              </a:rPr>
              <a:t>Types</a:t>
            </a:r>
            <a:r>
              <a:rPr dirty="0" sz="2450" spc="-30" b="0">
                <a:solidFill>
                  <a:srgbClr val="060606"/>
                </a:solidFill>
                <a:latin typeface="Fira Sans Light"/>
                <a:cs typeface="Fira Sans Light"/>
              </a:rPr>
              <a:t> </a:t>
            </a:r>
            <a:r>
              <a:rPr dirty="0" sz="2450" b="0">
                <a:solidFill>
                  <a:srgbClr val="060606"/>
                </a:solidFill>
                <a:latin typeface="Fira Sans Light"/>
                <a:cs typeface="Fira Sans Light"/>
              </a:rPr>
              <a:t>of</a:t>
            </a:r>
            <a:r>
              <a:rPr dirty="0" sz="2450" spc="-30" b="0">
                <a:solidFill>
                  <a:srgbClr val="060606"/>
                </a:solidFill>
                <a:latin typeface="Fira Sans Light"/>
                <a:cs typeface="Fira Sans Light"/>
              </a:rPr>
              <a:t> </a:t>
            </a:r>
            <a:r>
              <a:rPr dirty="0" sz="2450" spc="-10" b="0">
                <a:solidFill>
                  <a:srgbClr val="060606"/>
                </a:solidFill>
                <a:latin typeface="Fira Sans Light"/>
                <a:cs typeface="Fira Sans Light"/>
              </a:rPr>
              <a:t>Phishing</a:t>
            </a:r>
            <a:endParaRPr sz="245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50">
              <a:latin typeface="Fira Sans Light"/>
              <a:cs typeface="Fira Sans Light"/>
            </a:endParaRPr>
          </a:p>
          <a:p>
            <a:pPr marL="295910">
              <a:lnSpc>
                <a:spcPct val="100000"/>
              </a:lnSpc>
            </a:pPr>
            <a:r>
              <a:rPr dirty="0" sz="1350" spc="-50" b="0">
                <a:solidFill>
                  <a:srgbClr val="FFFFFF"/>
                </a:solidFill>
                <a:latin typeface="Fira Sans Light"/>
                <a:cs typeface="Fira Sans Light"/>
              </a:rPr>
              <a:t>1</a:t>
            </a:r>
            <a:endParaRPr sz="135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350">
              <a:latin typeface="Fira Sans Light"/>
              <a:cs typeface="Fira Sans Light"/>
            </a:endParaRPr>
          </a:p>
          <a:p>
            <a:pPr marL="158750">
              <a:lnSpc>
                <a:spcPct val="100000"/>
              </a:lnSpc>
              <a:spcBef>
                <a:spcPts val="5"/>
              </a:spcBef>
            </a:pPr>
            <a:r>
              <a:rPr dirty="0" sz="1200" b="0">
                <a:solidFill>
                  <a:srgbClr val="CDCBCB"/>
                </a:solidFill>
                <a:latin typeface="Fira Sans Light"/>
                <a:cs typeface="Fira Sans Light"/>
              </a:rPr>
              <a:t>Slide</a:t>
            </a:r>
            <a:r>
              <a:rPr dirty="0" sz="1200" spc="-3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200" spc="-10" b="0">
                <a:solidFill>
                  <a:srgbClr val="CDCBCB"/>
                </a:solidFill>
                <a:latin typeface="Fira Sans Light"/>
                <a:cs typeface="Fira Sans Light"/>
              </a:rPr>
              <a:t>Title</a:t>
            </a:r>
            <a:endParaRPr sz="1200">
              <a:latin typeface="Fira Sans Light"/>
              <a:cs typeface="Fira Sans Light"/>
            </a:endParaRPr>
          </a:p>
          <a:p>
            <a:pPr marL="187325">
              <a:lnSpc>
                <a:spcPct val="100000"/>
              </a:lnSpc>
              <a:spcBef>
                <a:spcPts val="960"/>
              </a:spcBef>
            </a:pPr>
            <a:r>
              <a:rPr dirty="0" sz="950" b="0">
                <a:solidFill>
                  <a:srgbClr val="CDCBCB"/>
                </a:solidFill>
                <a:latin typeface="Fira Sans Light"/>
                <a:cs typeface="Fira Sans Light"/>
              </a:rPr>
              <a:t>“Types</a:t>
            </a:r>
            <a:r>
              <a:rPr dirty="0" sz="950" spc="15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CDCBCB"/>
                </a:solidFill>
                <a:latin typeface="Fira Sans Light"/>
                <a:cs typeface="Fira Sans Light"/>
              </a:rPr>
              <a:t>of</a:t>
            </a:r>
            <a:r>
              <a:rPr dirty="0" sz="950" spc="15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950" spc="-10" b="0">
                <a:solidFill>
                  <a:srgbClr val="CDCBCB"/>
                </a:solidFill>
                <a:latin typeface="Fira Sans Light"/>
                <a:cs typeface="Fira Sans Light"/>
              </a:rPr>
              <a:t>Phishing”</a:t>
            </a:r>
            <a:endParaRPr sz="950">
              <a:latin typeface="Fira Sans Light"/>
              <a:cs typeface="Fira Sans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9627" y="5870576"/>
            <a:ext cx="1618615" cy="120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100"/>
              </a:spcBef>
            </a:pPr>
            <a:r>
              <a:rPr dirty="0" sz="1350" spc="-50" b="0">
                <a:solidFill>
                  <a:srgbClr val="FFFFFF"/>
                </a:solidFill>
                <a:latin typeface="Fira Sans Light"/>
                <a:cs typeface="Fira Sans Light"/>
              </a:rPr>
              <a:t>3</a:t>
            </a:r>
            <a:endParaRPr sz="135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350">
              <a:latin typeface="Fira Sans Light"/>
              <a:cs typeface="Fira Sans Light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0">
                <a:solidFill>
                  <a:srgbClr val="797777"/>
                </a:solidFill>
                <a:latin typeface="Fira Sans Light"/>
                <a:cs typeface="Fira Sans Light"/>
              </a:rPr>
              <a:t>Visuals</a:t>
            </a:r>
            <a:endParaRPr sz="1200">
              <a:latin typeface="Fira Sans Light"/>
              <a:cs typeface="Fira Sans Light"/>
            </a:endParaRPr>
          </a:p>
          <a:p>
            <a:pPr marL="231140" indent="-104139">
              <a:lnSpc>
                <a:spcPct val="100000"/>
              </a:lnSpc>
              <a:spcBef>
                <a:spcPts val="1045"/>
              </a:spcBef>
              <a:buFont typeface="DejaVu Serif"/>
              <a:buChar char="•"/>
              <a:tabLst>
                <a:tab pos="231140" algn="l"/>
              </a:tabLst>
            </a:pPr>
            <a:r>
              <a:rPr dirty="0" sz="950" b="0">
                <a:solidFill>
                  <a:srgbClr val="797777"/>
                </a:solidFill>
                <a:latin typeface="Fira Sans Light"/>
                <a:cs typeface="Fira Sans Light"/>
              </a:rPr>
              <a:t>Icons</a:t>
            </a:r>
            <a:r>
              <a:rPr dirty="0" sz="950" spc="3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797777"/>
                </a:solidFill>
                <a:latin typeface="Fira Sans Light"/>
                <a:cs typeface="Fira Sans Light"/>
              </a:rPr>
              <a:t>for</a:t>
            </a:r>
            <a:r>
              <a:rPr dirty="0" sz="950" spc="35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797777"/>
                </a:solidFill>
                <a:latin typeface="Fira Sans Light"/>
                <a:cs typeface="Fira Sans Light"/>
              </a:rPr>
              <a:t>each</a:t>
            </a:r>
            <a:r>
              <a:rPr dirty="0" sz="950" spc="35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950" spc="-20" b="0">
                <a:solidFill>
                  <a:srgbClr val="797777"/>
                </a:solidFill>
                <a:latin typeface="Fira Sans Light"/>
                <a:cs typeface="Fira Sans Light"/>
              </a:rPr>
              <a:t>type</a:t>
            </a:r>
            <a:endParaRPr sz="950">
              <a:latin typeface="Fira Sans Light"/>
              <a:cs typeface="Fira Sans Light"/>
            </a:endParaRPr>
          </a:p>
          <a:p>
            <a:pPr marL="231140" marR="5080" indent="-104139">
              <a:lnSpc>
                <a:spcPct val="102600"/>
              </a:lnSpc>
              <a:buFont typeface="DejaVu Serif"/>
              <a:buChar char="•"/>
              <a:tabLst>
                <a:tab pos="232410" algn="l"/>
              </a:tabLst>
            </a:pPr>
            <a:r>
              <a:rPr dirty="0" sz="950" spc="-10" b="0">
                <a:solidFill>
                  <a:srgbClr val="797777"/>
                </a:solidFill>
                <a:latin typeface="Fira Sans Light"/>
                <a:cs typeface="Fira Sans Light"/>
              </a:rPr>
              <a:t>Realisticexample(blurred 	sensitiveinfo)</a:t>
            </a:r>
            <a:endParaRPr sz="95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6064" y="0"/>
            <a:ext cx="4974335" cy="822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515" y="2770631"/>
            <a:ext cx="3941108" cy="28712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7747" y="2770631"/>
            <a:ext cx="3941108" cy="28712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515" y="5843015"/>
            <a:ext cx="3941108" cy="13624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37747" y="5843015"/>
            <a:ext cx="3941108" cy="1362462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83272" y="744082"/>
            <a:ext cx="5743575" cy="17653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4500"/>
              </a:lnSpc>
              <a:spcBef>
                <a:spcPts val="95"/>
              </a:spcBef>
            </a:pPr>
            <a:r>
              <a:rPr dirty="0" sz="3950"/>
              <a:t>4.</a:t>
            </a:r>
            <a:r>
              <a:rPr dirty="0" sz="3950" spc="-5"/>
              <a:t> </a:t>
            </a:r>
            <a:r>
              <a:rPr dirty="0" sz="3950"/>
              <a:t>How</a:t>
            </a:r>
            <a:r>
              <a:rPr dirty="0" sz="3950" spc="5"/>
              <a:t> </a:t>
            </a:r>
            <a:r>
              <a:rPr dirty="0" sz="3950"/>
              <a:t>to</a:t>
            </a:r>
            <a:r>
              <a:rPr dirty="0" sz="3950" spc="-5"/>
              <a:t> </a:t>
            </a:r>
            <a:r>
              <a:rPr dirty="0" sz="3950"/>
              <a:t>Spot</a:t>
            </a:r>
            <a:r>
              <a:rPr dirty="0" sz="3950" spc="5"/>
              <a:t> </a:t>
            </a:r>
            <a:r>
              <a:rPr dirty="0" sz="3950"/>
              <a:t>a</a:t>
            </a:r>
            <a:r>
              <a:rPr dirty="0" sz="3950" spc="-5"/>
              <a:t> </a:t>
            </a:r>
            <a:r>
              <a:rPr dirty="0" sz="3950" spc="-10"/>
              <a:t>Phishing </a:t>
            </a:r>
            <a:r>
              <a:rPr dirty="0" sz="3950"/>
              <a:t>Email</a:t>
            </a:r>
            <a:r>
              <a:rPr dirty="0" sz="3950" spc="-25"/>
              <a:t> </a:t>
            </a:r>
            <a:r>
              <a:rPr dirty="0" sz="3950"/>
              <a:t>Red</a:t>
            </a:r>
            <a:r>
              <a:rPr dirty="0" sz="3950" spc="-25"/>
              <a:t> </a:t>
            </a:r>
            <a:r>
              <a:rPr dirty="0" sz="3950" spc="-10"/>
              <a:t>Flags</a:t>
            </a:r>
            <a:endParaRPr sz="3950"/>
          </a:p>
        </p:txBody>
      </p:sp>
      <p:sp>
        <p:nvSpPr>
          <p:cNvPr id="8" name="object 8"/>
          <p:cNvSpPr txBox="1"/>
          <p:nvPr/>
        </p:nvSpPr>
        <p:spPr>
          <a:xfrm>
            <a:off x="993775" y="2949270"/>
            <a:ext cx="2743835" cy="7251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0">
                <a:solidFill>
                  <a:srgbClr val="3F3E3E"/>
                </a:solidFill>
                <a:latin typeface="Fira Sans Light"/>
                <a:cs typeface="Fira Sans Light"/>
              </a:rPr>
              <a:t>Slide</a:t>
            </a:r>
            <a:r>
              <a:rPr dirty="0" sz="200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000" spc="-20" b="0">
                <a:solidFill>
                  <a:srgbClr val="3F3E3E"/>
                </a:solidFill>
                <a:latin typeface="Fira Sans Light"/>
                <a:cs typeface="Fira Sans Light"/>
              </a:rPr>
              <a:t>Title</a:t>
            </a:r>
            <a:endParaRPr sz="2000">
              <a:latin typeface="Fira Sans Light"/>
              <a:cs typeface="Fira Sans Light"/>
            </a:endParaRPr>
          </a:p>
          <a:p>
            <a:pPr marL="60325">
              <a:lnSpc>
                <a:spcPct val="100000"/>
              </a:lnSpc>
              <a:spcBef>
                <a:spcPts val="1215"/>
              </a:spcBef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“Red</a:t>
            </a:r>
            <a:r>
              <a:rPr dirty="0" sz="155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Flags</a:t>
            </a:r>
            <a:r>
              <a:rPr dirty="0" sz="155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in</a:t>
            </a:r>
            <a:r>
              <a:rPr dirty="0" sz="155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Phishing</a:t>
            </a:r>
            <a:r>
              <a:rPr dirty="0" sz="155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Emails”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775" y="5854518"/>
            <a:ext cx="3321685" cy="1153795"/>
          </a:xfrm>
          <a:prstGeom prst="rect">
            <a:avLst/>
          </a:prstGeom>
        </p:spPr>
        <p:txBody>
          <a:bodyPr wrap="square" lIns="0" tIns="196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2000" b="0">
                <a:solidFill>
                  <a:srgbClr val="3F3E3E"/>
                </a:solidFill>
                <a:latin typeface="Fira Sans Light"/>
                <a:cs typeface="Fira Sans Light"/>
              </a:rPr>
              <a:t>Talking</a:t>
            </a:r>
            <a:r>
              <a:rPr dirty="0" sz="2000" spc="-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000" spc="-10" b="0">
                <a:solidFill>
                  <a:srgbClr val="3F3E3E"/>
                </a:solidFill>
                <a:latin typeface="Fira Sans Light"/>
                <a:cs typeface="Fira Sans Light"/>
              </a:rPr>
              <a:t>Points</a:t>
            </a:r>
            <a:endParaRPr sz="2000">
              <a:latin typeface="Fira Sans Light"/>
              <a:cs typeface="Fira Sans Light"/>
            </a:endParaRPr>
          </a:p>
          <a:p>
            <a:pPr marL="125730" indent="-113030">
              <a:lnSpc>
                <a:spcPct val="100000"/>
              </a:lnSpc>
              <a:spcBef>
                <a:spcPts val="1135"/>
              </a:spcBef>
              <a:buChar char="•"/>
              <a:tabLst>
                <a:tab pos="125730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Encourage</a:t>
            </a:r>
            <a:r>
              <a:rPr dirty="0" sz="155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users</a:t>
            </a:r>
            <a:r>
              <a:rPr dirty="0" sz="155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to</a:t>
            </a:r>
            <a:r>
              <a:rPr dirty="0" sz="155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pause</a:t>
            </a:r>
            <a:r>
              <a:rPr dirty="0" sz="155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and</a:t>
            </a:r>
            <a:r>
              <a:rPr dirty="0" sz="155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think</a:t>
            </a:r>
            <a:endParaRPr sz="1550">
              <a:latin typeface="Fira Sans Light"/>
              <a:cs typeface="Fira Sans Light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before</a:t>
            </a:r>
            <a:r>
              <a:rPr dirty="0" sz="1550" spc="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clicking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29517" y="2949270"/>
            <a:ext cx="3260090" cy="2363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 b="0">
                <a:solidFill>
                  <a:srgbClr val="3F3E3E"/>
                </a:solidFill>
                <a:latin typeface="Fira Sans Light"/>
                <a:cs typeface="Fira Sans Light"/>
              </a:rPr>
              <a:t>Content</a:t>
            </a:r>
            <a:endParaRPr sz="2000">
              <a:latin typeface="Fira Sans Light"/>
              <a:cs typeface="Fira Sans Light"/>
            </a:endParaRPr>
          </a:p>
          <a:p>
            <a:pPr marL="307340" indent="-113664">
              <a:lnSpc>
                <a:spcPct val="100000"/>
              </a:lnSpc>
              <a:spcBef>
                <a:spcPts val="1215"/>
              </a:spcBef>
              <a:buChar char="•"/>
              <a:tabLst>
                <a:tab pos="307340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Suspicious</a:t>
            </a:r>
            <a:r>
              <a:rPr dirty="0" sz="1550" spc="6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sender</a:t>
            </a:r>
            <a:r>
              <a:rPr dirty="0" sz="1550" spc="6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address</a:t>
            </a:r>
            <a:endParaRPr sz="1550">
              <a:latin typeface="Fira Sans Light"/>
              <a:cs typeface="Fira Sans Light"/>
            </a:endParaRPr>
          </a:p>
          <a:p>
            <a:pPr marL="307340" indent="-113664">
              <a:lnSpc>
                <a:spcPct val="100000"/>
              </a:lnSpc>
              <a:spcBef>
                <a:spcPts val="1090"/>
              </a:spcBef>
              <a:buChar char="•"/>
              <a:tabLst>
                <a:tab pos="307340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Generic</a:t>
            </a:r>
            <a:r>
              <a:rPr dirty="0" sz="1550" spc="5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greetings</a:t>
            </a:r>
            <a:r>
              <a:rPr dirty="0" sz="1550" spc="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(“Dear</a:t>
            </a:r>
            <a:r>
              <a:rPr dirty="0" sz="1550" spc="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user”)</a:t>
            </a:r>
            <a:endParaRPr sz="1550">
              <a:latin typeface="Fira Sans Light"/>
              <a:cs typeface="Fira Sans Light"/>
            </a:endParaRPr>
          </a:p>
          <a:p>
            <a:pPr marL="306705" indent="-113030">
              <a:lnSpc>
                <a:spcPct val="100000"/>
              </a:lnSpc>
              <a:spcBef>
                <a:spcPts val="1090"/>
              </a:spcBef>
              <a:buChar char="•"/>
              <a:tabLst>
                <a:tab pos="306705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Urgent</a:t>
            </a:r>
            <a:r>
              <a:rPr dirty="0" sz="155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or</a:t>
            </a:r>
            <a:r>
              <a:rPr dirty="0" sz="155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threatening</a:t>
            </a:r>
            <a:r>
              <a:rPr dirty="0" sz="155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20" b="0">
                <a:solidFill>
                  <a:srgbClr val="3F3E3E"/>
                </a:solidFill>
                <a:latin typeface="Fira Sans Light"/>
                <a:cs typeface="Fira Sans Light"/>
              </a:rPr>
              <a:t>tone</a:t>
            </a:r>
            <a:endParaRPr sz="1550">
              <a:latin typeface="Fira Sans Light"/>
              <a:cs typeface="Fira Sans Light"/>
            </a:endParaRPr>
          </a:p>
          <a:p>
            <a:pPr marL="307340" indent="-113664">
              <a:lnSpc>
                <a:spcPct val="100000"/>
              </a:lnSpc>
              <a:spcBef>
                <a:spcPts val="1100"/>
              </a:spcBef>
              <a:buChar char="•"/>
              <a:tabLst>
                <a:tab pos="307340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Grammar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or</a:t>
            </a:r>
            <a:r>
              <a:rPr dirty="0" sz="155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spelling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mistakes</a:t>
            </a:r>
            <a:endParaRPr sz="155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Clr>
                <a:srgbClr val="3F3E3E"/>
              </a:buClr>
              <a:buFont typeface="Fira Sans Light"/>
              <a:buChar char="•"/>
            </a:pPr>
            <a:endParaRPr sz="1550">
              <a:latin typeface="Fira Sans Light"/>
              <a:cs typeface="Fira Sans Light"/>
            </a:endParaRPr>
          </a:p>
          <a:p>
            <a:pPr marL="307340" indent="-113664">
              <a:lnSpc>
                <a:spcPct val="100000"/>
              </a:lnSpc>
              <a:buChar char="•"/>
              <a:tabLst>
                <a:tab pos="307340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Unexpected</a:t>
            </a:r>
            <a:r>
              <a:rPr dirty="0" sz="1550" spc="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attachments</a:t>
            </a:r>
            <a:r>
              <a:rPr dirty="0" sz="1550" spc="6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or</a:t>
            </a:r>
            <a:r>
              <a:rPr dirty="0" sz="1550" spc="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links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29517" y="5854396"/>
            <a:ext cx="3291204" cy="1153795"/>
          </a:xfrm>
          <a:prstGeom prst="rect">
            <a:avLst/>
          </a:prstGeom>
        </p:spPr>
        <p:txBody>
          <a:bodyPr wrap="square" lIns="0" tIns="196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2000" spc="-10" b="0">
                <a:solidFill>
                  <a:srgbClr val="3F3E3E"/>
                </a:solidFill>
                <a:latin typeface="Fira Sans Light"/>
                <a:cs typeface="Fira Sans Light"/>
              </a:rPr>
              <a:t>Visuals</a:t>
            </a:r>
            <a:endParaRPr sz="2000">
              <a:latin typeface="Fira Sans Light"/>
              <a:cs typeface="Fira Sans Light"/>
            </a:endParaRPr>
          </a:p>
          <a:p>
            <a:pPr marL="125730" indent="-113030">
              <a:lnSpc>
                <a:spcPct val="100000"/>
              </a:lnSpc>
              <a:spcBef>
                <a:spcPts val="1140"/>
              </a:spcBef>
              <a:buChar char="•"/>
              <a:tabLst>
                <a:tab pos="125730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Screenshot</a:t>
            </a:r>
            <a:r>
              <a:rPr dirty="0" sz="155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of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a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fake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email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with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25" b="0">
                <a:solidFill>
                  <a:srgbClr val="3F3E3E"/>
                </a:solidFill>
                <a:latin typeface="Fira Sans Light"/>
                <a:cs typeface="Fira Sans Light"/>
              </a:rPr>
              <a:t>red</a:t>
            </a:r>
            <a:endParaRPr sz="1550">
              <a:latin typeface="Fira Sans Light"/>
              <a:cs typeface="Fira Sans Light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circles/highlights</a:t>
            </a:r>
            <a:r>
              <a:rPr dirty="0" sz="155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on</a:t>
            </a:r>
            <a:r>
              <a:rPr dirty="0" sz="155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red</a:t>
            </a:r>
            <a:r>
              <a:rPr dirty="0" sz="155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20" b="0">
                <a:solidFill>
                  <a:srgbClr val="3F3E3E"/>
                </a:solidFill>
                <a:latin typeface="Fira Sans Light"/>
                <a:cs typeface="Fira Sans Light"/>
              </a:rPr>
              <a:t>ﬂags</a:t>
            </a:r>
            <a:endParaRPr sz="155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852066" cy="82296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638531" y="4828032"/>
            <a:ext cx="3529965" cy="2478405"/>
            <a:chOff x="6638531" y="4828032"/>
            <a:chExt cx="3529965" cy="247840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8531" y="5148060"/>
              <a:ext cx="3529605" cy="215799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8531" y="5056632"/>
              <a:ext cx="3529605" cy="1280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10727" y="4828032"/>
              <a:ext cx="585190" cy="585215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0323576" y="2587752"/>
            <a:ext cx="3529965" cy="2075814"/>
            <a:chOff x="10323576" y="2587752"/>
            <a:chExt cx="3529965" cy="2075814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23576" y="2916923"/>
              <a:ext cx="3529605" cy="174651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23576" y="2816352"/>
              <a:ext cx="3529605" cy="12800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804904" y="2587752"/>
              <a:ext cx="585190" cy="58519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323576" y="4828032"/>
            <a:ext cx="3529965" cy="2478405"/>
            <a:chOff x="10323576" y="4828032"/>
            <a:chExt cx="3529965" cy="2478405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23576" y="5148060"/>
              <a:ext cx="3529605" cy="215799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23576" y="5056632"/>
              <a:ext cx="3529605" cy="1280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804904" y="4828032"/>
              <a:ext cx="585190" cy="585215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638531" y="2587752"/>
            <a:ext cx="3529965" cy="2075814"/>
            <a:chOff x="6638531" y="2587752"/>
            <a:chExt cx="3529965" cy="2075814"/>
          </a:xfrm>
        </p:grpSpPr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38531" y="2816352"/>
              <a:ext cx="3529605" cy="184708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10727" y="2587752"/>
              <a:ext cx="585190" cy="58519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322932" y="4959045"/>
            <a:ext cx="1371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0">
                <a:solidFill>
                  <a:srgbClr val="FFFFFF"/>
                </a:solidFill>
                <a:latin typeface="Fira Sans Light"/>
                <a:cs typeface="Fira Sans Light"/>
              </a:rPr>
              <a:t>3</a:t>
            </a:r>
            <a:endParaRPr sz="1800">
              <a:latin typeface="Fira Sans Light"/>
              <a:cs typeface="Fira Sans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22932" y="2715907"/>
            <a:ext cx="38315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8400" algn="l"/>
              </a:tabLst>
            </a:pPr>
            <a:r>
              <a:rPr dirty="0" sz="1800" spc="-50" b="0">
                <a:solidFill>
                  <a:srgbClr val="FFFFFF"/>
                </a:solidFill>
                <a:latin typeface="Fira Sans Light"/>
                <a:cs typeface="Fira Sans Light"/>
              </a:rPr>
              <a:t>1</a:t>
            </a:r>
            <a:r>
              <a:rPr dirty="0" sz="1800" b="0">
                <a:solidFill>
                  <a:srgbClr val="FFFFFF"/>
                </a:solidFill>
                <a:latin typeface="Fira Sans Light"/>
                <a:cs typeface="Fira Sans Light"/>
              </a:rPr>
              <a:t>	</a:t>
            </a:r>
            <a:r>
              <a:rPr dirty="0" sz="1800" spc="-50" b="0">
                <a:solidFill>
                  <a:srgbClr val="FFFFFF"/>
                </a:solidFill>
                <a:latin typeface="Fira Sans Light"/>
                <a:cs typeface="Fira Sans Light"/>
              </a:rPr>
              <a:t>2</a:t>
            </a:r>
            <a:endParaRPr sz="1800">
              <a:latin typeface="Fira Sans Light"/>
              <a:cs typeface="Fira Sans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019280" y="4959045"/>
            <a:ext cx="1441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0">
                <a:solidFill>
                  <a:srgbClr val="FFFFFF"/>
                </a:solidFill>
                <a:latin typeface="Fira Sans Light"/>
                <a:cs typeface="Fira Sans Light"/>
              </a:rPr>
              <a:t>4</a:t>
            </a:r>
            <a:endParaRPr sz="1800">
              <a:latin typeface="Fira Sans Light"/>
              <a:cs typeface="Fira Sans Light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6639306" y="674587"/>
            <a:ext cx="5690235" cy="167449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42400"/>
              </a:lnSpc>
              <a:spcBef>
                <a:spcPts val="90"/>
              </a:spcBef>
            </a:pPr>
            <a:r>
              <a:rPr dirty="0" sz="3800"/>
              <a:t>5.</a:t>
            </a:r>
            <a:r>
              <a:rPr dirty="0" sz="3800" spc="-60"/>
              <a:t> </a:t>
            </a:r>
            <a:r>
              <a:rPr dirty="0" sz="3800"/>
              <a:t>Real</a:t>
            </a:r>
            <a:r>
              <a:rPr dirty="0" sz="3800" spc="-55"/>
              <a:t> </a:t>
            </a:r>
            <a:r>
              <a:rPr dirty="0" sz="3800"/>
              <a:t>Example</a:t>
            </a:r>
            <a:r>
              <a:rPr dirty="0" sz="3800" spc="-55"/>
              <a:t> </a:t>
            </a:r>
            <a:r>
              <a:rPr dirty="0" sz="3800"/>
              <a:t>—</a:t>
            </a:r>
            <a:r>
              <a:rPr dirty="0" sz="3800" spc="-55"/>
              <a:t> </a:t>
            </a:r>
            <a:r>
              <a:rPr dirty="0" sz="3800"/>
              <a:t>Fake</a:t>
            </a:r>
            <a:r>
              <a:rPr dirty="0" sz="3800" spc="-55"/>
              <a:t> </a:t>
            </a:r>
            <a:r>
              <a:rPr dirty="0" sz="3800" spc="-25"/>
              <a:t>vs. </a:t>
            </a:r>
            <a:r>
              <a:rPr dirty="0" sz="3800"/>
              <a:t>Real</a:t>
            </a:r>
            <a:r>
              <a:rPr dirty="0" sz="3800" spc="-25"/>
              <a:t> </a:t>
            </a:r>
            <a:r>
              <a:rPr dirty="0" sz="3800"/>
              <a:t>Spot</a:t>
            </a:r>
            <a:r>
              <a:rPr dirty="0" sz="3800" spc="-15"/>
              <a:t> </a:t>
            </a:r>
            <a:r>
              <a:rPr dirty="0" sz="3800"/>
              <a:t>the</a:t>
            </a:r>
            <a:r>
              <a:rPr dirty="0" sz="3800" spc="-15"/>
              <a:t> </a:t>
            </a:r>
            <a:r>
              <a:rPr dirty="0" sz="3800" spc="-10"/>
              <a:t>Difference</a:t>
            </a:r>
            <a:endParaRPr sz="3800"/>
          </a:p>
        </p:txBody>
      </p:sp>
      <p:sp>
        <p:nvSpPr>
          <p:cNvPr id="22" name="object 22"/>
          <p:cNvSpPr txBox="1"/>
          <p:nvPr/>
        </p:nvSpPr>
        <p:spPr>
          <a:xfrm>
            <a:off x="6849732" y="3214382"/>
            <a:ext cx="1831975" cy="7340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b="0">
                <a:solidFill>
                  <a:srgbClr val="3F3E3E"/>
                </a:solidFill>
                <a:latin typeface="Fira Sans Light"/>
                <a:cs typeface="Fira Sans Light"/>
              </a:rPr>
              <a:t>Slide</a:t>
            </a:r>
            <a:r>
              <a:rPr dirty="0" sz="185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50" spc="-20" b="0">
                <a:solidFill>
                  <a:srgbClr val="3F3E3E"/>
                </a:solidFill>
                <a:latin typeface="Fira Sans Light"/>
                <a:cs typeface="Fira Sans Light"/>
              </a:rPr>
              <a:t>Title</a:t>
            </a:r>
            <a:endParaRPr sz="1850">
              <a:latin typeface="Fira Sans Light"/>
              <a:cs typeface="Fira Sans Light"/>
            </a:endParaRPr>
          </a:p>
          <a:p>
            <a:pPr marL="50800">
              <a:lnSpc>
                <a:spcPct val="100000"/>
              </a:lnSpc>
              <a:spcBef>
                <a:spcPts val="1530"/>
              </a:spcBef>
            </a:pP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“Spot</a:t>
            </a:r>
            <a:r>
              <a:rPr dirty="0" sz="1500" spc="-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the</a:t>
            </a:r>
            <a:r>
              <a:rPr dirty="0" sz="1500" spc="-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spc="-10" b="0">
                <a:solidFill>
                  <a:srgbClr val="3F3E3E"/>
                </a:solidFill>
                <a:latin typeface="Fira Sans Light"/>
                <a:cs typeface="Fira Sans Light"/>
              </a:rPr>
              <a:t>Difference”</a:t>
            </a:r>
            <a:endParaRPr sz="1500">
              <a:latin typeface="Fira Sans Light"/>
              <a:cs typeface="Fira Sans Ligh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41444" y="5457520"/>
            <a:ext cx="3117215" cy="162813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125"/>
              </a:spcBef>
            </a:pPr>
            <a:r>
              <a:rPr dirty="0" sz="1850" b="0">
                <a:solidFill>
                  <a:srgbClr val="3F3E3E"/>
                </a:solidFill>
                <a:latin typeface="Fira Sans Light"/>
                <a:cs typeface="Fira Sans Light"/>
              </a:rPr>
              <a:t>Talking</a:t>
            </a:r>
            <a:r>
              <a:rPr dirty="0" sz="1850" spc="-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50" spc="-10" b="0">
                <a:solidFill>
                  <a:srgbClr val="3F3E3E"/>
                </a:solidFill>
                <a:latin typeface="Fira Sans Light"/>
                <a:cs typeface="Fira Sans Light"/>
              </a:rPr>
              <a:t>Points</a:t>
            </a:r>
            <a:endParaRPr sz="1850">
              <a:latin typeface="Fira Sans Light"/>
              <a:cs typeface="Fira Sans Light"/>
            </a:endParaRPr>
          </a:p>
          <a:p>
            <a:pPr marL="20320" marR="5080" indent="278130">
              <a:lnSpc>
                <a:spcPct val="104200"/>
              </a:lnSpc>
              <a:spcBef>
                <a:spcPts val="1430"/>
              </a:spcBef>
              <a:buChar char="•"/>
              <a:tabLst>
                <a:tab pos="298450" algn="l"/>
              </a:tabLst>
            </a:pP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Ask</a:t>
            </a:r>
            <a:r>
              <a:rPr dirty="0" sz="1500" spc="-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participants</a:t>
            </a:r>
            <a:r>
              <a:rPr dirty="0" sz="1500" spc="-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what</a:t>
            </a:r>
            <a:r>
              <a:rPr dirty="0" sz="1500" spc="-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spc="-10" b="0">
                <a:solidFill>
                  <a:srgbClr val="3F3E3E"/>
                </a:solidFill>
                <a:latin typeface="Fira Sans Light"/>
                <a:cs typeface="Fira Sans Light"/>
              </a:rPr>
              <a:t>differences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they</a:t>
            </a:r>
            <a:r>
              <a:rPr dirty="0" sz="1500" spc="-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spc="-10" b="0">
                <a:solidFill>
                  <a:srgbClr val="3F3E3E"/>
                </a:solidFill>
                <a:latin typeface="Fira Sans Light"/>
                <a:cs typeface="Fira Sans Light"/>
              </a:rPr>
              <a:t>notice</a:t>
            </a:r>
            <a:endParaRPr sz="1500">
              <a:latin typeface="Fira Sans Light"/>
              <a:cs typeface="Fira Sans Light"/>
            </a:endParaRPr>
          </a:p>
          <a:p>
            <a:pPr marL="12700" marR="504825" indent="286385">
              <a:lnSpc>
                <a:spcPct val="104200"/>
              </a:lnSpc>
              <a:spcBef>
                <a:spcPts val="1435"/>
              </a:spcBef>
              <a:buChar char="•"/>
              <a:tabLst>
                <a:tab pos="299085" algn="l"/>
              </a:tabLst>
            </a:pP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Explain</a:t>
            </a:r>
            <a:r>
              <a:rPr dirty="0" sz="1500" spc="-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why</a:t>
            </a:r>
            <a:r>
              <a:rPr dirty="0" sz="1500" spc="-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the</a:t>
            </a:r>
            <a:r>
              <a:rPr dirty="0" sz="1500" spc="-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fake</a:t>
            </a:r>
            <a:r>
              <a:rPr dirty="0" sz="1500" spc="-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one</a:t>
            </a:r>
            <a:r>
              <a:rPr dirty="0" sz="1500" spc="-25" b="0">
                <a:solidFill>
                  <a:srgbClr val="3F3E3E"/>
                </a:solidFill>
                <a:latin typeface="Fira Sans Light"/>
                <a:cs typeface="Fira Sans Light"/>
              </a:rPr>
              <a:t> is </a:t>
            </a:r>
            <a:r>
              <a:rPr dirty="0" sz="1500" spc="-10" b="0">
                <a:solidFill>
                  <a:srgbClr val="3F3E3E"/>
                </a:solidFill>
                <a:latin typeface="Fira Sans Light"/>
                <a:cs typeface="Fira Sans Light"/>
              </a:rPr>
              <a:t>dangerous</a:t>
            </a:r>
            <a:endParaRPr sz="1500">
              <a:latin typeface="Fira Sans Light"/>
              <a:cs typeface="Fira Sans 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37300" y="3214382"/>
            <a:ext cx="3202305" cy="10883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0">
                <a:solidFill>
                  <a:srgbClr val="3F3E3E"/>
                </a:solidFill>
                <a:latin typeface="Fira Sans Light"/>
                <a:cs typeface="Fira Sans Light"/>
              </a:rPr>
              <a:t>Content</a:t>
            </a:r>
            <a:endParaRPr sz="185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50">
              <a:latin typeface="Fira Sans Light"/>
              <a:cs typeface="Fira Sans Light"/>
            </a:endParaRPr>
          </a:p>
          <a:p>
            <a:pPr marL="299720" indent="-106680">
              <a:lnSpc>
                <a:spcPct val="100000"/>
              </a:lnSpc>
              <a:buChar char="•"/>
              <a:tabLst>
                <a:tab pos="299720" algn="l"/>
              </a:tabLst>
            </a:pP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Show</a:t>
            </a:r>
            <a:r>
              <a:rPr dirty="0" sz="1500" spc="-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one</a:t>
            </a:r>
            <a:r>
              <a:rPr dirty="0" sz="15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fake</a:t>
            </a:r>
            <a:r>
              <a:rPr dirty="0" sz="15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email</a:t>
            </a:r>
            <a:r>
              <a:rPr dirty="0" sz="15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and</a:t>
            </a:r>
            <a:r>
              <a:rPr dirty="0" sz="15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one</a:t>
            </a:r>
            <a:r>
              <a:rPr dirty="0" sz="15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spc="-20" b="0">
                <a:solidFill>
                  <a:srgbClr val="3F3E3E"/>
                </a:solidFill>
                <a:latin typeface="Fira Sans Light"/>
                <a:cs typeface="Fira Sans Light"/>
              </a:rPr>
              <a:t>real</a:t>
            </a:r>
            <a:endParaRPr sz="1500">
              <a:latin typeface="Fira Sans Light"/>
              <a:cs typeface="Fira Sans Light"/>
            </a:endParaRPr>
          </a:p>
          <a:p>
            <a:pPr marL="21590">
              <a:lnSpc>
                <a:spcPct val="100000"/>
              </a:lnSpc>
              <a:spcBef>
                <a:spcPts val="65"/>
              </a:spcBef>
            </a:pP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company</a:t>
            </a:r>
            <a:r>
              <a:rPr dirty="0" sz="15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email</a:t>
            </a:r>
            <a:r>
              <a:rPr dirty="0" sz="1500" spc="-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(side</a:t>
            </a:r>
            <a:r>
              <a:rPr dirty="0" sz="1500" spc="-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by</a:t>
            </a:r>
            <a:r>
              <a:rPr dirty="0" sz="15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spc="-10" b="0">
                <a:solidFill>
                  <a:srgbClr val="3F3E3E"/>
                </a:solidFill>
                <a:latin typeface="Fira Sans Light"/>
                <a:cs typeface="Fira Sans Light"/>
              </a:rPr>
              <a:t>side)</a:t>
            </a:r>
            <a:endParaRPr sz="1500">
              <a:latin typeface="Fira Sans Light"/>
              <a:cs typeface="Fira Sans 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546239" y="5457530"/>
            <a:ext cx="3095625" cy="969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0">
                <a:solidFill>
                  <a:srgbClr val="3F3E3E"/>
                </a:solidFill>
                <a:latin typeface="Fira Sans Light"/>
                <a:cs typeface="Fira Sans Light"/>
              </a:rPr>
              <a:t>Visuals</a:t>
            </a:r>
            <a:endParaRPr sz="1850">
              <a:latin typeface="Fira Sans Light"/>
              <a:cs typeface="Fira Sans Light"/>
            </a:endParaRPr>
          </a:p>
          <a:p>
            <a:pPr marL="12700" marR="5080" indent="278130">
              <a:lnSpc>
                <a:spcPct val="104200"/>
              </a:lnSpc>
              <a:spcBef>
                <a:spcPts val="1430"/>
              </a:spcBef>
              <a:buChar char="•"/>
              <a:tabLst>
                <a:tab pos="290830" algn="l"/>
              </a:tabLst>
            </a:pP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Two</a:t>
            </a:r>
            <a:r>
              <a:rPr dirty="0" sz="1500" spc="-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email</a:t>
            </a:r>
            <a:r>
              <a:rPr dirty="0" sz="1500" spc="-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screenshots</a:t>
            </a:r>
            <a:r>
              <a:rPr dirty="0" sz="15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spc="-10" b="0">
                <a:solidFill>
                  <a:srgbClr val="3F3E3E"/>
                </a:solidFill>
                <a:latin typeface="Fira Sans Light"/>
                <a:cs typeface="Fira Sans Light"/>
              </a:rPr>
              <a:t>(sensitive </a:t>
            </a:r>
            <a:r>
              <a:rPr dirty="0" sz="1500" b="0">
                <a:solidFill>
                  <a:srgbClr val="3F3E3E"/>
                </a:solidFill>
                <a:latin typeface="Fira Sans Light"/>
                <a:cs typeface="Fira Sans Light"/>
              </a:rPr>
              <a:t>data </a:t>
            </a:r>
            <a:r>
              <a:rPr dirty="0" sz="1500" spc="-10" b="0">
                <a:solidFill>
                  <a:srgbClr val="3F3E3E"/>
                </a:solidFill>
                <a:latin typeface="Fira Sans Light"/>
                <a:cs typeface="Fira Sans Light"/>
              </a:rPr>
              <a:t>blurred)</a:t>
            </a:r>
            <a:endParaRPr sz="150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23956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371" y="4635995"/>
            <a:ext cx="4261091" cy="28437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93792" y="4635995"/>
            <a:ext cx="4261091" cy="28437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01200" y="4635994"/>
            <a:ext cx="4261099" cy="2843763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83272" y="2866650"/>
            <a:ext cx="5248910" cy="15621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dirty="0" spc="-65"/>
              <a:t> </a:t>
            </a:r>
            <a:r>
              <a:rPr dirty="0"/>
              <a:t>How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/>
              <a:t>Protect</a:t>
            </a:r>
            <a:r>
              <a:rPr dirty="0" spc="-65"/>
              <a:t> </a:t>
            </a:r>
            <a:r>
              <a:rPr dirty="0" spc="-35"/>
              <a:t>Yourself </a:t>
            </a:r>
            <a:r>
              <a:rPr dirty="0"/>
              <a:t>Phishing</a:t>
            </a:r>
            <a:r>
              <a:rPr dirty="0" spc="-130"/>
              <a:t> </a:t>
            </a:r>
            <a:r>
              <a:rPr dirty="0"/>
              <a:t>Prevention</a:t>
            </a:r>
            <a:r>
              <a:rPr dirty="0" spc="-114"/>
              <a:t> </a:t>
            </a:r>
            <a:r>
              <a:rPr dirty="0" spc="-20"/>
              <a:t>Tips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7910" y="4666978"/>
            <a:ext cx="2176780" cy="805180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Slide </a:t>
            </a:r>
            <a:r>
              <a:rPr dirty="0" sz="1800" spc="-20" b="0">
                <a:solidFill>
                  <a:srgbClr val="3F3E3E"/>
                </a:solidFill>
                <a:latin typeface="Fira Sans Light"/>
                <a:cs typeface="Fira Sans Light"/>
              </a:rPr>
              <a:t>Title</a:t>
            </a:r>
            <a:endParaRPr sz="1800">
              <a:latin typeface="Fira Sans Light"/>
              <a:cs typeface="Fira Sans Light"/>
            </a:endParaRPr>
          </a:p>
          <a:p>
            <a:pPr marL="50800">
              <a:lnSpc>
                <a:spcPct val="100000"/>
              </a:lnSpc>
              <a:spcBef>
                <a:spcPts val="1025"/>
              </a:spcBef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“Phishing</a:t>
            </a:r>
            <a:r>
              <a:rPr dirty="0" sz="140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Prevention</a:t>
            </a:r>
            <a:r>
              <a:rPr dirty="0" sz="140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10" b="0">
                <a:solidFill>
                  <a:srgbClr val="3F3E3E"/>
                </a:solidFill>
                <a:latin typeface="Fira Sans Light"/>
                <a:cs typeface="Fira Sans Light"/>
              </a:rPr>
              <a:t>Tips”</a:t>
            </a:r>
            <a:endParaRPr sz="1400">
              <a:latin typeface="Fira Sans Light"/>
              <a:cs typeface="Fira Sans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7972" y="4827282"/>
            <a:ext cx="3178810" cy="2654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0">
                <a:solidFill>
                  <a:srgbClr val="3F3E3E"/>
                </a:solidFill>
                <a:latin typeface="Fira Sans Light"/>
                <a:cs typeface="Fira Sans Light"/>
              </a:rPr>
              <a:t>Content</a:t>
            </a:r>
            <a:endParaRPr sz="1800">
              <a:latin typeface="Fira Sans Light"/>
              <a:cs typeface="Fira Sans Light"/>
            </a:endParaRPr>
          </a:p>
          <a:p>
            <a:pPr marL="306070" marR="483870" indent="-131445">
              <a:lnSpc>
                <a:spcPct val="101800"/>
              </a:lnSpc>
              <a:spcBef>
                <a:spcPts val="1900"/>
              </a:spcBef>
              <a:buChar char="•"/>
              <a:tabLst>
                <a:tab pos="307975" algn="l"/>
              </a:tabLst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Don’t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click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suspicious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links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25" b="0">
                <a:solidFill>
                  <a:srgbClr val="3F3E3E"/>
                </a:solidFill>
                <a:latin typeface="Fira Sans Light"/>
                <a:cs typeface="Fira Sans Light"/>
              </a:rPr>
              <a:t>or </a:t>
            </a:r>
            <a:r>
              <a:rPr dirty="0" sz="1400" spc="-25" b="0">
                <a:solidFill>
                  <a:srgbClr val="3F3E3E"/>
                </a:solidFill>
                <a:latin typeface="Fira Sans Light"/>
                <a:cs typeface="Fira Sans Light"/>
              </a:rPr>
              <a:t>	</a:t>
            </a:r>
            <a:r>
              <a:rPr dirty="0" sz="1400" spc="-10" b="0">
                <a:solidFill>
                  <a:srgbClr val="3F3E3E"/>
                </a:solidFill>
                <a:latin typeface="Fira Sans Light"/>
                <a:cs typeface="Fira Sans Light"/>
              </a:rPr>
              <a:t>attachments</a:t>
            </a:r>
            <a:endParaRPr sz="1400">
              <a:latin typeface="Fira Sans Light"/>
              <a:cs typeface="Fira Sans Light"/>
            </a:endParaRPr>
          </a:p>
          <a:p>
            <a:pPr marL="306070" marR="5080" indent="-131445">
              <a:lnSpc>
                <a:spcPct val="101800"/>
              </a:lnSpc>
              <a:spcBef>
                <a:spcPts val="965"/>
              </a:spcBef>
              <a:buChar char="•"/>
              <a:tabLst>
                <a:tab pos="307975" algn="l"/>
              </a:tabLst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Verify</a:t>
            </a:r>
            <a:r>
              <a:rPr dirty="0" sz="140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the</a:t>
            </a:r>
            <a:r>
              <a:rPr dirty="0" sz="140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sender</a:t>
            </a:r>
            <a:r>
              <a:rPr dirty="0" sz="140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before</a:t>
            </a:r>
            <a:r>
              <a:rPr dirty="0" sz="140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replying</a:t>
            </a:r>
            <a:r>
              <a:rPr dirty="0" sz="140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25" b="0">
                <a:solidFill>
                  <a:srgbClr val="3F3E3E"/>
                </a:solidFill>
                <a:latin typeface="Fira Sans Light"/>
                <a:cs typeface="Fira Sans Light"/>
              </a:rPr>
              <a:t>or </a:t>
            </a:r>
            <a:r>
              <a:rPr dirty="0" sz="1400" spc="-25" b="0">
                <a:solidFill>
                  <a:srgbClr val="3F3E3E"/>
                </a:solidFill>
                <a:latin typeface="Fira Sans Light"/>
                <a:cs typeface="Fira Sans Light"/>
              </a:rPr>
              <a:t>	</a:t>
            </a:r>
            <a:r>
              <a:rPr dirty="0" sz="1400" spc="-10" b="0">
                <a:solidFill>
                  <a:srgbClr val="3F3E3E"/>
                </a:solidFill>
                <a:latin typeface="Fira Sans Light"/>
                <a:cs typeface="Fira Sans Light"/>
              </a:rPr>
              <a:t>clicking</a:t>
            </a:r>
            <a:endParaRPr sz="1400">
              <a:latin typeface="Fira Sans Light"/>
              <a:cs typeface="Fira Sans Light"/>
            </a:endParaRPr>
          </a:p>
          <a:p>
            <a:pPr marL="306070" indent="-131445">
              <a:lnSpc>
                <a:spcPct val="100000"/>
              </a:lnSpc>
              <a:spcBef>
                <a:spcPts val="185"/>
              </a:spcBef>
              <a:buChar char="•"/>
              <a:tabLst>
                <a:tab pos="306070" algn="l"/>
              </a:tabLst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Use</a:t>
            </a:r>
            <a:r>
              <a:rPr dirty="0" sz="140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strong</a:t>
            </a:r>
            <a:r>
              <a:rPr dirty="0" sz="140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passwords</a:t>
            </a:r>
            <a:r>
              <a:rPr dirty="0" sz="140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&amp;</a:t>
            </a:r>
            <a:r>
              <a:rPr dirty="0" sz="140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25" b="0">
                <a:solidFill>
                  <a:srgbClr val="3F3E3E"/>
                </a:solidFill>
                <a:latin typeface="Fira Sans Light"/>
                <a:cs typeface="Fira Sans Light"/>
              </a:rPr>
              <a:t>MFA</a:t>
            </a:r>
            <a:endParaRPr sz="1400">
              <a:latin typeface="Fira Sans Light"/>
              <a:cs typeface="Fira Sans Light"/>
            </a:endParaRPr>
          </a:p>
          <a:p>
            <a:pPr marL="306070" indent="-131445">
              <a:lnSpc>
                <a:spcPct val="100000"/>
              </a:lnSpc>
              <a:spcBef>
                <a:spcPts val="985"/>
              </a:spcBef>
              <a:buChar char="•"/>
              <a:tabLst>
                <a:tab pos="306070" algn="l"/>
              </a:tabLst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Keep</a:t>
            </a:r>
            <a:r>
              <a:rPr dirty="0" sz="140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software</a:t>
            </a:r>
            <a:r>
              <a:rPr dirty="0" sz="140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10" b="0">
                <a:solidFill>
                  <a:srgbClr val="3F3E3E"/>
                </a:solidFill>
                <a:latin typeface="Fira Sans Light"/>
                <a:cs typeface="Fira Sans Light"/>
              </a:rPr>
              <a:t>updated</a:t>
            </a:r>
            <a:endParaRPr sz="1400">
              <a:latin typeface="Fira Sans Light"/>
              <a:cs typeface="Fira Sans Light"/>
            </a:endParaRPr>
          </a:p>
          <a:p>
            <a:pPr marL="306070" marR="1831975" indent="-131445">
              <a:lnSpc>
                <a:spcPct val="101800"/>
              </a:lnSpc>
              <a:spcBef>
                <a:spcPts val="875"/>
              </a:spcBef>
              <a:buChar char="•"/>
              <a:tabLst>
                <a:tab pos="307975" algn="l"/>
              </a:tabLst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Enable</a:t>
            </a:r>
            <a:r>
              <a:rPr dirty="0" sz="1400" spc="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20" b="0">
                <a:solidFill>
                  <a:srgbClr val="3F3E3E"/>
                </a:solidFill>
                <a:latin typeface="Fira Sans Light"/>
                <a:cs typeface="Fira Sans Light"/>
              </a:rPr>
              <a:t>spam </a:t>
            </a:r>
            <a:r>
              <a:rPr dirty="0" sz="1400" spc="-20" b="0">
                <a:solidFill>
                  <a:srgbClr val="3F3E3E"/>
                </a:solidFill>
                <a:latin typeface="Fira Sans Light"/>
                <a:cs typeface="Fira Sans Light"/>
              </a:rPr>
              <a:t>	</a:t>
            </a:r>
            <a:r>
              <a:rPr dirty="0" sz="1400" spc="-10" b="0">
                <a:solidFill>
                  <a:srgbClr val="3F3E3E"/>
                </a:solidFill>
                <a:latin typeface="Fira Sans Light"/>
                <a:cs typeface="Fira Sans Light"/>
              </a:rPr>
              <a:t>filters</a:t>
            </a:r>
            <a:endParaRPr sz="1400">
              <a:latin typeface="Fira Sans Light"/>
              <a:cs typeface="Fira Sans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78441" y="4666978"/>
            <a:ext cx="1452245" cy="1240155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800" spc="-10" b="0">
                <a:solidFill>
                  <a:srgbClr val="3F3E3E"/>
                </a:solidFill>
                <a:latin typeface="Fira Sans Light"/>
                <a:cs typeface="Fira Sans Light"/>
              </a:rPr>
              <a:t>Visuals</a:t>
            </a:r>
            <a:endParaRPr sz="1800">
              <a:latin typeface="Fira Sans Light"/>
              <a:cs typeface="Fira Sans Light"/>
            </a:endParaRPr>
          </a:p>
          <a:p>
            <a:pPr marL="328295" indent="-154305">
              <a:lnSpc>
                <a:spcPct val="100000"/>
              </a:lnSpc>
              <a:spcBef>
                <a:spcPts val="1025"/>
              </a:spcBef>
              <a:buFont typeface="DejaVu Serif"/>
              <a:buChar char="•"/>
              <a:tabLst>
                <a:tab pos="328295" algn="l"/>
              </a:tabLst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Checklist</a:t>
            </a:r>
            <a:r>
              <a:rPr dirty="0" sz="140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20" b="0">
                <a:solidFill>
                  <a:srgbClr val="3F3E3E"/>
                </a:solidFill>
                <a:latin typeface="Fira Sans Light"/>
                <a:cs typeface="Fira Sans Light"/>
              </a:rPr>
              <a:t>icon</a:t>
            </a:r>
            <a:endParaRPr sz="1400">
              <a:latin typeface="Fira Sans Light"/>
              <a:cs typeface="Fira Sans Light"/>
            </a:endParaRPr>
          </a:p>
          <a:p>
            <a:pPr marL="328295" marR="9525" indent="-154305">
              <a:lnSpc>
                <a:spcPct val="102000"/>
              </a:lnSpc>
              <a:buFont typeface="DejaVu Serif"/>
              <a:buChar char="•"/>
              <a:tabLst>
                <a:tab pos="328295" algn="l"/>
              </a:tabLst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Shield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or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20" b="0">
                <a:solidFill>
                  <a:srgbClr val="3F3E3E"/>
                </a:solidFill>
                <a:latin typeface="Fira Sans Light"/>
                <a:cs typeface="Fira Sans Light"/>
              </a:rPr>
              <a:t>lock </a:t>
            </a:r>
            <a:r>
              <a:rPr dirty="0" sz="1400" spc="-10" b="0">
                <a:solidFill>
                  <a:srgbClr val="3F3E3E"/>
                </a:solidFill>
                <a:latin typeface="Fira Sans Light"/>
                <a:cs typeface="Fira Sans Light"/>
              </a:rPr>
              <a:t>graphic</a:t>
            </a:r>
            <a:endParaRPr sz="140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23956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371" y="4370832"/>
            <a:ext cx="6492341" cy="1673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6371" y="6126467"/>
            <a:ext cx="6492341" cy="11338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70064" y="4370832"/>
            <a:ext cx="6492349" cy="167335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70063" y="6126466"/>
            <a:ext cx="6487316" cy="11338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4672" y="4379976"/>
            <a:ext cx="6446588" cy="37489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4672" y="6144755"/>
            <a:ext cx="6446583" cy="3748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88352" y="4379976"/>
            <a:ext cx="6446588" cy="37489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88352" y="6144755"/>
            <a:ext cx="6446583" cy="374891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783272" y="3299777"/>
            <a:ext cx="4881880" cy="4038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 spc="-65"/>
              <a:t>7.</a:t>
            </a:r>
            <a:r>
              <a:rPr dirty="0" sz="2450" spc="25"/>
              <a:t> </a:t>
            </a:r>
            <a:r>
              <a:rPr dirty="0" sz="2450"/>
              <a:t>How</a:t>
            </a:r>
            <a:r>
              <a:rPr dirty="0" sz="2450" spc="20"/>
              <a:t> </a:t>
            </a:r>
            <a:r>
              <a:rPr dirty="0" sz="2450"/>
              <a:t>to</a:t>
            </a:r>
            <a:r>
              <a:rPr dirty="0" sz="2450" spc="25"/>
              <a:t> </a:t>
            </a:r>
            <a:r>
              <a:rPr dirty="0" sz="2450"/>
              <a:t>Report</a:t>
            </a:r>
            <a:r>
              <a:rPr dirty="0" sz="2450" spc="20"/>
              <a:t> </a:t>
            </a:r>
            <a:r>
              <a:rPr dirty="0" sz="2450"/>
              <a:t>Suspicious</a:t>
            </a:r>
            <a:r>
              <a:rPr dirty="0" sz="2450" spc="25"/>
              <a:t> </a:t>
            </a:r>
            <a:r>
              <a:rPr dirty="0" sz="2450" spc="-10"/>
              <a:t>Emails</a:t>
            </a:r>
            <a:endParaRPr sz="2450"/>
          </a:p>
        </p:txBody>
      </p:sp>
      <p:sp>
        <p:nvSpPr>
          <p:cNvPr id="12" name="object 12"/>
          <p:cNvSpPr txBox="1"/>
          <p:nvPr/>
        </p:nvSpPr>
        <p:spPr>
          <a:xfrm>
            <a:off x="783272" y="3859353"/>
            <a:ext cx="3349625" cy="14916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b="0">
                <a:solidFill>
                  <a:srgbClr val="060606"/>
                </a:solidFill>
                <a:latin typeface="Fira Sans Light"/>
                <a:cs typeface="Fira Sans Light"/>
              </a:rPr>
              <a:t>Reporting</a:t>
            </a:r>
            <a:r>
              <a:rPr dirty="0" sz="2450" spc="80" b="0">
                <a:solidFill>
                  <a:srgbClr val="060606"/>
                </a:solidFill>
                <a:latin typeface="Fira Sans Light"/>
                <a:cs typeface="Fira Sans Light"/>
              </a:rPr>
              <a:t> </a:t>
            </a:r>
            <a:r>
              <a:rPr dirty="0" sz="2450" spc="-10" b="0">
                <a:solidFill>
                  <a:srgbClr val="060606"/>
                </a:solidFill>
                <a:latin typeface="Fira Sans Light"/>
                <a:cs typeface="Fira Sans Light"/>
              </a:rPr>
              <a:t>Process</a:t>
            </a:r>
            <a:endParaRPr sz="2450">
              <a:latin typeface="Fira Sans Light"/>
              <a:cs typeface="Fira Sans Light"/>
            </a:endParaRPr>
          </a:p>
          <a:p>
            <a:pPr algn="r" marR="5080">
              <a:lnSpc>
                <a:spcPct val="100000"/>
              </a:lnSpc>
              <a:spcBef>
                <a:spcPts val="1530"/>
              </a:spcBef>
            </a:pPr>
            <a:r>
              <a:rPr dirty="0" sz="1500" spc="-50" b="0">
                <a:solidFill>
                  <a:srgbClr val="FFFFFF"/>
                </a:solidFill>
                <a:latin typeface="Fira Sans Light"/>
                <a:cs typeface="Fira Sans Light"/>
              </a:rPr>
              <a:t>1</a:t>
            </a:r>
            <a:endParaRPr sz="1500">
              <a:latin typeface="Fira Sans Light"/>
              <a:cs typeface="Fira Sans Light"/>
            </a:endParaRPr>
          </a:p>
          <a:p>
            <a:pPr marL="158750">
              <a:lnSpc>
                <a:spcPct val="100000"/>
              </a:lnSpc>
              <a:spcBef>
                <a:spcPts val="1700"/>
              </a:spcBef>
            </a:pPr>
            <a:r>
              <a:rPr dirty="0" sz="1200" b="0">
                <a:solidFill>
                  <a:srgbClr val="3F3E3E"/>
                </a:solidFill>
                <a:latin typeface="Fira Sans Light"/>
                <a:cs typeface="Fira Sans Light"/>
              </a:rPr>
              <a:t>Slide</a:t>
            </a:r>
            <a:r>
              <a:rPr dirty="0" sz="12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200" spc="-10" b="0">
                <a:solidFill>
                  <a:srgbClr val="3F3E3E"/>
                </a:solidFill>
                <a:latin typeface="Fira Sans Light"/>
                <a:cs typeface="Fira Sans Light"/>
              </a:rPr>
              <a:t>Title</a:t>
            </a:r>
            <a:endParaRPr sz="1200">
              <a:latin typeface="Fira Sans Light"/>
              <a:cs typeface="Fira Sans Light"/>
            </a:endParaRPr>
          </a:p>
          <a:p>
            <a:pPr marL="187325">
              <a:lnSpc>
                <a:spcPct val="100000"/>
              </a:lnSpc>
              <a:spcBef>
                <a:spcPts val="960"/>
              </a:spcBef>
            </a:pP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“Report,</a:t>
            </a:r>
            <a:r>
              <a:rPr dirty="0" sz="950" spc="6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Don’t</a:t>
            </a:r>
            <a:r>
              <a:rPr dirty="0" sz="950" spc="6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spc="-10" b="0">
                <a:solidFill>
                  <a:srgbClr val="3F3E3E"/>
                </a:solidFill>
                <a:latin typeface="Fira Sans Light"/>
                <a:cs typeface="Fira Sans Light"/>
              </a:rPr>
              <a:t>Ignore”</a:t>
            </a:r>
            <a:endParaRPr sz="950">
              <a:latin typeface="Fira Sans Light"/>
              <a:cs typeface="Fira Sans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9627" y="6632270"/>
            <a:ext cx="2313305" cy="485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solidFill>
                  <a:srgbClr val="3F3E3E"/>
                </a:solidFill>
                <a:latin typeface="Fira Sans Light"/>
                <a:cs typeface="Fira Sans Light"/>
              </a:rPr>
              <a:t>Talking</a:t>
            </a:r>
            <a:r>
              <a:rPr dirty="0" sz="1200" spc="-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200" spc="-10" b="0">
                <a:solidFill>
                  <a:srgbClr val="3F3E3E"/>
                </a:solidFill>
                <a:latin typeface="Fira Sans Light"/>
                <a:cs typeface="Fira Sans Light"/>
              </a:rPr>
              <a:t>Points</a:t>
            </a:r>
            <a:endParaRPr sz="1200">
              <a:latin typeface="Fira Sans Light"/>
              <a:cs typeface="Fira Sans Light"/>
            </a:endParaRPr>
          </a:p>
          <a:p>
            <a:pPr marL="211454" indent="-84455">
              <a:lnSpc>
                <a:spcPct val="100000"/>
              </a:lnSpc>
              <a:spcBef>
                <a:spcPts val="1035"/>
              </a:spcBef>
              <a:buChar char="•"/>
              <a:tabLst>
                <a:tab pos="211454" algn="l"/>
              </a:tabLst>
            </a:pP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Fast</a:t>
            </a:r>
            <a:r>
              <a:rPr dirty="0" sz="950" spc="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reporting</a:t>
            </a:r>
            <a:r>
              <a:rPr dirty="0" sz="950" spc="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prevents</a:t>
            </a:r>
            <a:r>
              <a:rPr dirty="0" sz="950" spc="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wider</a:t>
            </a:r>
            <a:r>
              <a:rPr dirty="0" sz="950" spc="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spc="-10" b="0">
                <a:solidFill>
                  <a:srgbClr val="3F3E3E"/>
                </a:solidFill>
                <a:latin typeface="Fira Sans Light"/>
                <a:cs typeface="Fira Sans Light"/>
              </a:rPr>
              <a:t>damage</a:t>
            </a:r>
            <a:endParaRPr sz="950">
              <a:latin typeface="Fira Sans Light"/>
              <a:cs typeface="Fira Sans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6259" y="6914845"/>
            <a:ext cx="556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solidFill>
                  <a:srgbClr val="3F3E3E"/>
                </a:solidFill>
                <a:latin typeface="Fira Sans Light"/>
                <a:cs typeface="Fira Sans Light"/>
              </a:rPr>
              <a:t>Content</a:t>
            </a:r>
            <a:endParaRPr sz="1200">
              <a:latin typeface="Fira Sans Light"/>
              <a:cs typeface="Fira Sans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14522" y="6197600"/>
            <a:ext cx="1181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0">
                <a:solidFill>
                  <a:srgbClr val="FFFFFF"/>
                </a:solidFill>
                <a:latin typeface="Fira Sans Light"/>
                <a:cs typeface="Fira Sans Light"/>
              </a:rPr>
              <a:t>3</a:t>
            </a:r>
            <a:endParaRPr sz="1500">
              <a:latin typeface="Fira Sans Light"/>
              <a:cs typeface="Fira Sans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32065" y="5176837"/>
            <a:ext cx="3190875" cy="9556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97155" indent="-84455">
              <a:lnSpc>
                <a:spcPct val="100000"/>
              </a:lnSpc>
              <a:spcBef>
                <a:spcPts val="125"/>
              </a:spcBef>
              <a:buChar char="•"/>
              <a:tabLst>
                <a:tab pos="97155" algn="l"/>
              </a:tabLst>
            </a:pP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Step-by-step</a:t>
            </a:r>
            <a:r>
              <a:rPr dirty="0" sz="95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reporting</a:t>
            </a:r>
            <a:r>
              <a:rPr dirty="0" sz="950" spc="5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process</a:t>
            </a:r>
            <a:r>
              <a:rPr dirty="0" sz="950" spc="5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for</a:t>
            </a:r>
            <a:r>
              <a:rPr dirty="0" sz="950" spc="5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your</a:t>
            </a:r>
            <a:r>
              <a:rPr dirty="0" sz="95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spc="-10" b="0">
                <a:solidFill>
                  <a:srgbClr val="3F3E3E"/>
                </a:solidFill>
                <a:latin typeface="Fira Sans Light"/>
                <a:cs typeface="Fira Sans Light"/>
              </a:rPr>
              <a:t>organization</a:t>
            </a:r>
            <a:endParaRPr sz="950">
              <a:latin typeface="Fira Sans Light"/>
              <a:cs typeface="Fira Sans Light"/>
            </a:endParaRPr>
          </a:p>
          <a:p>
            <a:pPr marL="97155" indent="-84455">
              <a:lnSpc>
                <a:spcPct val="100000"/>
              </a:lnSpc>
              <a:spcBef>
                <a:spcPts val="1019"/>
              </a:spcBef>
              <a:buChar char="•"/>
              <a:tabLst>
                <a:tab pos="97155" algn="l"/>
              </a:tabLst>
            </a:pP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Whom</a:t>
            </a:r>
            <a:r>
              <a:rPr dirty="0" sz="9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to</a:t>
            </a:r>
            <a:r>
              <a:rPr dirty="0" sz="9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contact</a:t>
            </a:r>
            <a:r>
              <a:rPr dirty="0" sz="9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(e.g.,</a:t>
            </a:r>
            <a:r>
              <a:rPr dirty="0" sz="9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IT/security</a:t>
            </a:r>
            <a:r>
              <a:rPr dirty="0" sz="9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spc="-10" b="0">
                <a:solidFill>
                  <a:srgbClr val="3F3E3E"/>
                </a:solidFill>
                <a:latin typeface="Fira Sans Light"/>
                <a:cs typeface="Fira Sans Light"/>
              </a:rPr>
              <a:t>team)</a:t>
            </a:r>
            <a:endParaRPr sz="950">
              <a:latin typeface="Fira Sans Light"/>
              <a:cs typeface="Fira Sans Light"/>
            </a:endParaRPr>
          </a:p>
          <a:p>
            <a:pPr marL="96520" marR="5080" indent="-84455">
              <a:lnSpc>
                <a:spcPct val="109600"/>
              </a:lnSpc>
              <a:spcBef>
                <a:spcPts val="840"/>
              </a:spcBef>
              <a:buChar char="•"/>
              <a:tabLst>
                <a:tab pos="97790" algn="l"/>
              </a:tabLst>
            </a:pP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What</a:t>
            </a:r>
            <a:r>
              <a:rPr dirty="0" sz="950" spc="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to</a:t>
            </a:r>
            <a:r>
              <a:rPr dirty="0" sz="950" spc="6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includein</a:t>
            </a:r>
            <a:r>
              <a:rPr dirty="0" sz="950" spc="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thereport</a:t>
            </a:r>
            <a:r>
              <a:rPr dirty="0" sz="950" spc="6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(screenshot,</a:t>
            </a:r>
            <a:r>
              <a:rPr dirty="0" sz="950" spc="6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email</a:t>
            </a:r>
            <a:r>
              <a:rPr dirty="0" sz="950" spc="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spc="-10" b="0">
                <a:solidFill>
                  <a:srgbClr val="3F3E3E"/>
                </a:solidFill>
                <a:latin typeface="Fira Sans Light"/>
                <a:cs typeface="Fira Sans Light"/>
              </a:rPr>
              <a:t>headers, </a:t>
            </a:r>
            <a:r>
              <a:rPr dirty="0" sz="950" spc="-10" b="0">
                <a:solidFill>
                  <a:srgbClr val="3F3E3E"/>
                </a:solidFill>
                <a:latin typeface="Fira Sans Light"/>
                <a:cs typeface="Fira Sans Light"/>
              </a:rPr>
              <a:t>	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etc.)</a:t>
            </a:r>
            <a:r>
              <a:rPr dirty="0" sz="95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00" spc="-50" b="0">
                <a:solidFill>
                  <a:srgbClr val="FFFFFF"/>
                </a:solidFill>
                <a:latin typeface="Fira Sans Light"/>
                <a:cs typeface="Fira Sans Light"/>
              </a:rPr>
              <a:t>4</a:t>
            </a:r>
            <a:endParaRPr sz="1500">
              <a:latin typeface="Fira Sans Light"/>
              <a:cs typeface="Fira Sans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17765" y="6632270"/>
            <a:ext cx="3444240" cy="485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0">
                <a:solidFill>
                  <a:srgbClr val="3F3E3E"/>
                </a:solidFill>
                <a:latin typeface="Fira Sans Light"/>
                <a:cs typeface="Fira Sans Light"/>
              </a:rPr>
              <a:t>Visuals</a:t>
            </a:r>
            <a:endParaRPr sz="1200">
              <a:latin typeface="Fira Sans Light"/>
              <a:cs typeface="Fira Sans Light"/>
            </a:endParaRPr>
          </a:p>
          <a:p>
            <a:pPr marL="230504" indent="-104139">
              <a:lnSpc>
                <a:spcPct val="100000"/>
              </a:lnSpc>
              <a:spcBef>
                <a:spcPts val="1035"/>
              </a:spcBef>
              <a:buFont typeface="DejaVu Serif"/>
              <a:buChar char="•"/>
              <a:tabLst>
                <a:tab pos="230504" algn="l"/>
              </a:tabLst>
            </a:pP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Flow</a:t>
            </a:r>
            <a:r>
              <a:rPr dirty="0" sz="950" spc="7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chartshowing</a:t>
            </a:r>
            <a:r>
              <a:rPr dirty="0" sz="950" spc="7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“Suspicious</a:t>
            </a:r>
            <a:r>
              <a:rPr dirty="0" sz="950" spc="7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Email</a:t>
            </a:r>
            <a:r>
              <a:rPr dirty="0" sz="950" spc="7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→</a:t>
            </a:r>
            <a:r>
              <a:rPr dirty="0" sz="950" spc="7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Report→</a:t>
            </a:r>
            <a:r>
              <a:rPr dirty="0" sz="950" spc="7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b="0">
                <a:solidFill>
                  <a:srgbClr val="3F3E3E"/>
                </a:solidFill>
                <a:latin typeface="Fira Sans Light"/>
                <a:cs typeface="Fira Sans Light"/>
              </a:rPr>
              <a:t>IT</a:t>
            </a:r>
            <a:r>
              <a:rPr dirty="0" sz="950" spc="7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950" spc="-20" b="0">
                <a:solidFill>
                  <a:srgbClr val="3F3E3E"/>
                </a:solidFill>
                <a:latin typeface="Fira Sans Light"/>
                <a:cs typeface="Fira Sans Light"/>
              </a:rPr>
              <a:t>Team”</a:t>
            </a:r>
            <a:endParaRPr sz="95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852066" cy="822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0256" y="2679192"/>
            <a:ext cx="3557059" cy="27523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0256" y="5568683"/>
            <a:ext cx="3557059" cy="17373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14432" y="2679192"/>
            <a:ext cx="3557059" cy="27523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14432" y="5568683"/>
            <a:ext cx="3557059" cy="1737365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639306" y="634080"/>
            <a:ext cx="5604510" cy="1858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2200"/>
              </a:lnSpc>
              <a:spcBef>
                <a:spcPts val="95"/>
              </a:spcBef>
            </a:pPr>
            <a:r>
              <a:rPr dirty="0" sz="3950"/>
              <a:t>8.</a:t>
            </a:r>
            <a:r>
              <a:rPr dirty="0" sz="3950" spc="-45"/>
              <a:t> </a:t>
            </a:r>
            <a:r>
              <a:rPr dirty="0" sz="3950"/>
              <a:t>Phishing</a:t>
            </a:r>
            <a:r>
              <a:rPr dirty="0" sz="3950" spc="-35"/>
              <a:t> </a:t>
            </a:r>
            <a:r>
              <a:rPr dirty="0" sz="3950" spc="-10"/>
              <a:t>Simulations </a:t>
            </a:r>
            <a:r>
              <a:rPr dirty="0" sz="3950"/>
              <a:t>Why</a:t>
            </a:r>
            <a:r>
              <a:rPr dirty="0" sz="3950" spc="-35"/>
              <a:t> </a:t>
            </a:r>
            <a:r>
              <a:rPr dirty="0" sz="3950"/>
              <a:t>We</a:t>
            </a:r>
            <a:r>
              <a:rPr dirty="0" sz="3950" spc="-20"/>
              <a:t> </a:t>
            </a:r>
            <a:r>
              <a:rPr dirty="0" sz="3950"/>
              <a:t>Run</a:t>
            </a:r>
            <a:r>
              <a:rPr dirty="0" sz="3950" spc="-20"/>
              <a:t> </a:t>
            </a:r>
            <a:r>
              <a:rPr dirty="0" sz="3950" spc="-10"/>
              <a:t>Simulations</a:t>
            </a:r>
            <a:endParaRPr sz="3950"/>
          </a:p>
        </p:txBody>
      </p:sp>
      <p:sp>
        <p:nvSpPr>
          <p:cNvPr id="8" name="object 8"/>
          <p:cNvSpPr txBox="1"/>
          <p:nvPr/>
        </p:nvSpPr>
        <p:spPr>
          <a:xfrm>
            <a:off x="6877050" y="2745602"/>
            <a:ext cx="2430145" cy="892175"/>
          </a:xfrm>
          <a:prstGeom prst="rect">
            <a:avLst/>
          </a:prstGeom>
        </p:spPr>
        <p:txBody>
          <a:bodyPr wrap="square" lIns="0" tIns="194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2000" b="0">
                <a:solidFill>
                  <a:srgbClr val="3F3E3E"/>
                </a:solidFill>
                <a:latin typeface="Fira Sans Light"/>
                <a:cs typeface="Fira Sans Light"/>
              </a:rPr>
              <a:t>Slide</a:t>
            </a:r>
            <a:r>
              <a:rPr dirty="0" sz="200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000" spc="-20" b="0">
                <a:solidFill>
                  <a:srgbClr val="3F3E3E"/>
                </a:solidFill>
                <a:latin typeface="Fira Sans Light"/>
                <a:cs typeface="Fira Sans Light"/>
              </a:rPr>
              <a:t>Title</a:t>
            </a:r>
            <a:endParaRPr sz="2000">
              <a:latin typeface="Fira Sans Light"/>
              <a:cs typeface="Fira Sans Light"/>
            </a:endParaRPr>
          </a:p>
          <a:p>
            <a:pPr marL="60325">
              <a:lnSpc>
                <a:spcPct val="100000"/>
              </a:lnSpc>
              <a:spcBef>
                <a:spcPts val="1125"/>
              </a:spcBef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“Why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We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Run</a:t>
            </a:r>
            <a:r>
              <a:rPr dirty="0" sz="155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Simulations”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77047" y="5806770"/>
            <a:ext cx="2931160" cy="1363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0">
                <a:solidFill>
                  <a:srgbClr val="3F3E3E"/>
                </a:solidFill>
                <a:latin typeface="Fira Sans Light"/>
                <a:cs typeface="Fira Sans Light"/>
              </a:rPr>
              <a:t>Talking</a:t>
            </a:r>
            <a:r>
              <a:rPr dirty="0" sz="2000" spc="-5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2000" spc="-10" b="0">
                <a:solidFill>
                  <a:srgbClr val="3F3E3E"/>
                </a:solidFill>
                <a:latin typeface="Fira Sans Light"/>
                <a:cs typeface="Fira Sans Light"/>
              </a:rPr>
              <a:t>Points</a:t>
            </a:r>
            <a:endParaRPr sz="2000">
              <a:latin typeface="Fira Sans Light"/>
              <a:cs typeface="Fira Sans Light"/>
            </a:endParaRPr>
          </a:p>
          <a:p>
            <a:pPr marL="180340" marR="5080" indent="-168275">
              <a:lnSpc>
                <a:spcPct val="108300"/>
              </a:lnSpc>
              <a:spcBef>
                <a:spcPts val="2060"/>
              </a:spcBef>
              <a:buFont typeface="DejaVu Serif"/>
              <a:buChar char="•"/>
              <a:tabLst>
                <a:tab pos="182880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Simulations</a:t>
            </a:r>
            <a:r>
              <a:rPr dirty="0" sz="155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are</a:t>
            </a:r>
            <a:r>
              <a:rPr dirty="0" sz="155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25" b="0">
                <a:solidFill>
                  <a:srgbClr val="3F3E3E"/>
                </a:solidFill>
                <a:latin typeface="Fira Sans Light"/>
                <a:cs typeface="Fira Sans Light"/>
              </a:rPr>
              <a:t>not </a:t>
            </a:r>
            <a:r>
              <a:rPr dirty="0" sz="1550" spc="-25" b="0">
                <a:solidFill>
                  <a:srgbClr val="3F3E3E"/>
                </a:solidFill>
                <a:latin typeface="Fira Sans Light"/>
                <a:cs typeface="Fira Sans Light"/>
              </a:rPr>
              <a:t>	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punishment</a:t>
            </a:r>
            <a:r>
              <a:rPr dirty="0" sz="155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—</a:t>
            </a:r>
            <a:r>
              <a:rPr dirty="0" sz="1550" spc="5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they’re</a:t>
            </a:r>
            <a:r>
              <a:rPr dirty="0" sz="1550" spc="5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learning 	opportunities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73762" y="2745602"/>
            <a:ext cx="2581275" cy="2144395"/>
          </a:xfrm>
          <a:prstGeom prst="rect">
            <a:avLst/>
          </a:prstGeom>
        </p:spPr>
        <p:txBody>
          <a:bodyPr wrap="square" lIns="0" tIns="194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2000" spc="-10" b="0">
                <a:solidFill>
                  <a:srgbClr val="3F3E3E"/>
                </a:solidFill>
                <a:latin typeface="Fira Sans Light"/>
                <a:cs typeface="Fira Sans Light"/>
              </a:rPr>
              <a:t>Content</a:t>
            </a:r>
            <a:endParaRPr sz="2000">
              <a:latin typeface="Fira Sans Light"/>
              <a:cs typeface="Fira Sans Light"/>
            </a:endParaRPr>
          </a:p>
          <a:p>
            <a:pPr marL="180340" marR="309245" indent="-168275">
              <a:lnSpc>
                <a:spcPct val="109000"/>
              </a:lnSpc>
              <a:spcBef>
                <a:spcPts val="955"/>
              </a:spcBef>
              <a:buFont typeface="DejaVu Serif"/>
              <a:buChar char="•"/>
              <a:tabLst>
                <a:tab pos="182880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To</a:t>
            </a:r>
            <a:r>
              <a:rPr dirty="0" sz="155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help</a:t>
            </a:r>
            <a:r>
              <a:rPr dirty="0" sz="155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identify</a:t>
            </a:r>
            <a:r>
              <a:rPr dirty="0" sz="155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gaps</a:t>
            </a:r>
            <a:r>
              <a:rPr dirty="0" sz="155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25" b="0">
                <a:solidFill>
                  <a:srgbClr val="3F3E3E"/>
                </a:solidFill>
                <a:latin typeface="Fira Sans Light"/>
                <a:cs typeface="Fira Sans Light"/>
              </a:rPr>
              <a:t>in </a:t>
            </a:r>
            <a:r>
              <a:rPr dirty="0" sz="1550" spc="-25" b="0">
                <a:solidFill>
                  <a:srgbClr val="3F3E3E"/>
                </a:solidFill>
                <a:latin typeface="Fira Sans Light"/>
                <a:cs typeface="Fira Sans Light"/>
              </a:rPr>
              <a:t>	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awareness</a:t>
            </a:r>
            <a:endParaRPr sz="1550">
              <a:latin typeface="Fira Sans Light"/>
              <a:cs typeface="Fira Sans Light"/>
            </a:endParaRPr>
          </a:p>
          <a:p>
            <a:pPr marL="180340" marR="5080" indent="-168275">
              <a:lnSpc>
                <a:spcPct val="109000"/>
              </a:lnSpc>
              <a:buFont typeface="DejaVu Serif"/>
              <a:buChar char="•"/>
              <a:tabLst>
                <a:tab pos="182880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To</a:t>
            </a:r>
            <a:r>
              <a:rPr dirty="0" sz="155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give</a:t>
            </a:r>
            <a:r>
              <a:rPr dirty="0" sz="155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employees</a:t>
            </a:r>
            <a:r>
              <a:rPr dirty="0" sz="155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real-</a:t>
            </a:r>
            <a:r>
              <a:rPr dirty="0" sz="1550" spc="-20" b="0">
                <a:solidFill>
                  <a:srgbClr val="3F3E3E"/>
                </a:solidFill>
                <a:latin typeface="Fira Sans Light"/>
                <a:cs typeface="Fira Sans Light"/>
              </a:rPr>
              <a:t>life </a:t>
            </a:r>
            <a:r>
              <a:rPr dirty="0" sz="1550" spc="-20" b="0">
                <a:solidFill>
                  <a:srgbClr val="3F3E3E"/>
                </a:solidFill>
                <a:latin typeface="Fira Sans Light"/>
                <a:cs typeface="Fira Sans Light"/>
              </a:rPr>
              <a:t>	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practice</a:t>
            </a:r>
            <a:endParaRPr sz="1550">
              <a:latin typeface="Fira Sans Light"/>
              <a:cs typeface="Fira Sans Light"/>
            </a:endParaRPr>
          </a:p>
          <a:p>
            <a:pPr lvl="1" marL="350520" marR="368935" indent="-168275">
              <a:lnSpc>
                <a:spcPct val="101600"/>
              </a:lnSpc>
              <a:buFont typeface="DejaVu Serif"/>
              <a:buChar char="•"/>
              <a:tabLst>
                <a:tab pos="352425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To</a:t>
            </a:r>
            <a:r>
              <a:rPr dirty="0" sz="1550" spc="-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improve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 response 	times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73763" y="5806770"/>
            <a:ext cx="2767330" cy="1363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 b="0">
                <a:solidFill>
                  <a:srgbClr val="3F3E3E"/>
                </a:solidFill>
                <a:latin typeface="Fira Sans Light"/>
                <a:cs typeface="Fira Sans Light"/>
              </a:rPr>
              <a:t>Visuals</a:t>
            </a:r>
            <a:endParaRPr sz="2000">
              <a:latin typeface="Fira Sans Light"/>
              <a:cs typeface="Fira Sans Light"/>
            </a:endParaRPr>
          </a:p>
          <a:p>
            <a:pPr marL="180340" marR="5080" indent="-168275">
              <a:lnSpc>
                <a:spcPct val="108300"/>
              </a:lnSpc>
              <a:spcBef>
                <a:spcPts val="2060"/>
              </a:spcBef>
              <a:buFont typeface="DejaVu Serif"/>
              <a:buChar char="•"/>
              <a:tabLst>
                <a:tab pos="182880" algn="l"/>
              </a:tabLst>
            </a:pP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Simple</a:t>
            </a:r>
            <a:r>
              <a:rPr dirty="0" sz="155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bar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chart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or</a:t>
            </a:r>
            <a:r>
              <a:rPr dirty="0" sz="155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stats 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	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from</a:t>
            </a:r>
            <a:r>
              <a:rPr dirty="0" sz="155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previous</a:t>
            </a:r>
            <a:r>
              <a:rPr dirty="0" sz="155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b="0">
                <a:solidFill>
                  <a:srgbClr val="3F3E3E"/>
                </a:solidFill>
                <a:latin typeface="Fira Sans Light"/>
                <a:cs typeface="Fira Sans Light"/>
              </a:rPr>
              <a:t>simulations</a:t>
            </a:r>
            <a:r>
              <a:rPr dirty="0" sz="155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550" spc="-25" b="0">
                <a:solidFill>
                  <a:srgbClr val="3F3E3E"/>
                </a:solidFill>
                <a:latin typeface="Fira Sans Light"/>
                <a:cs typeface="Fira Sans Light"/>
              </a:rPr>
              <a:t>(if </a:t>
            </a:r>
            <a:r>
              <a:rPr dirty="0" sz="1550" spc="-25" b="0">
                <a:solidFill>
                  <a:srgbClr val="3F3E3E"/>
                </a:solidFill>
                <a:latin typeface="Fira Sans Light"/>
                <a:cs typeface="Fira Sans Light"/>
              </a:rPr>
              <a:t>	</a:t>
            </a:r>
            <a:r>
              <a:rPr dirty="0" sz="1550" spc="-10" b="0">
                <a:solidFill>
                  <a:srgbClr val="3F3E3E"/>
                </a:solidFill>
                <a:latin typeface="Fira Sans Light"/>
                <a:cs typeface="Fira Sans Light"/>
              </a:rPr>
              <a:t>available)</a:t>
            </a:r>
            <a:endParaRPr sz="155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23956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515" y="4855464"/>
            <a:ext cx="411466" cy="4114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1529" y="4900612"/>
            <a:ext cx="2325370" cy="698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30"/>
              </a:lnSpc>
              <a:tabLst>
                <a:tab pos="478790" algn="l"/>
              </a:tabLst>
            </a:pPr>
            <a:r>
              <a:rPr dirty="0" sz="2150" spc="-50" b="0">
                <a:solidFill>
                  <a:srgbClr val="FFFFFF"/>
                </a:solidFill>
                <a:latin typeface="Fira Sans Light"/>
                <a:cs typeface="Fira Sans Light"/>
              </a:rPr>
              <a:t>1</a:t>
            </a:r>
            <a:r>
              <a:rPr dirty="0" sz="2150" b="0">
                <a:solidFill>
                  <a:srgbClr val="FFFFFF"/>
                </a:solidFill>
                <a:latin typeface="Fira Sans Light"/>
                <a:cs typeface="Fira Sans Light"/>
              </a:rPr>
              <a:t>	</a:t>
            </a: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Slide </a:t>
            </a:r>
            <a:r>
              <a:rPr dirty="0" sz="1800" spc="-20" b="0">
                <a:solidFill>
                  <a:srgbClr val="3F3E3E"/>
                </a:solidFill>
                <a:latin typeface="Fira Sans Light"/>
                <a:cs typeface="Fira Sans Light"/>
              </a:rPr>
              <a:t>Title</a:t>
            </a:r>
            <a:endParaRPr sz="1800">
              <a:latin typeface="Fira Sans Light"/>
              <a:cs typeface="Fira Sans Light"/>
            </a:endParaRPr>
          </a:p>
          <a:p>
            <a:pPr marL="516890">
              <a:lnSpc>
                <a:spcPct val="100000"/>
              </a:lnSpc>
              <a:spcBef>
                <a:spcPts val="1380"/>
              </a:spcBef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“Test</a:t>
            </a:r>
            <a:r>
              <a:rPr dirty="0" sz="1400" spc="-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Your</a:t>
            </a:r>
            <a:r>
              <a:rPr dirty="0" sz="1400" spc="-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10" b="0">
                <a:solidFill>
                  <a:srgbClr val="3F3E3E"/>
                </a:solidFill>
                <a:latin typeface="Fira Sans Light"/>
                <a:cs typeface="Fira Sans Light"/>
              </a:rPr>
              <a:t>Knowledge”</a:t>
            </a:r>
            <a:endParaRPr sz="1400">
              <a:latin typeface="Fira Sans Light"/>
              <a:cs typeface="Fira Sans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515" y="6227064"/>
            <a:ext cx="411466" cy="4114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6640" y="4855464"/>
            <a:ext cx="411466" cy="41146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61781" y="4866970"/>
            <a:ext cx="15811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50" b="0">
                <a:solidFill>
                  <a:srgbClr val="FFFFFF"/>
                </a:solidFill>
                <a:latin typeface="Fira Sans Light"/>
                <a:cs typeface="Fira Sans Light"/>
              </a:rPr>
              <a:t>2</a:t>
            </a:r>
            <a:endParaRPr sz="2150">
              <a:latin typeface="Fira Sans Light"/>
              <a:cs typeface="Fira Sans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06640" y="6227064"/>
            <a:ext cx="411466" cy="411466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83272" y="3075254"/>
            <a:ext cx="5069840" cy="15640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200"/>
              </a:lnSpc>
              <a:spcBef>
                <a:spcPts val="95"/>
              </a:spcBef>
            </a:pPr>
            <a:r>
              <a:rPr dirty="0"/>
              <a:t>9.</a:t>
            </a:r>
            <a:r>
              <a:rPr dirty="0" spc="-55"/>
              <a:t> </a:t>
            </a:r>
            <a:r>
              <a:rPr dirty="0"/>
              <a:t>Quick</a:t>
            </a:r>
            <a:r>
              <a:rPr dirty="0" spc="-55"/>
              <a:t> </a:t>
            </a:r>
            <a:r>
              <a:rPr dirty="0"/>
              <a:t>Quiz</a:t>
            </a:r>
            <a:r>
              <a:rPr dirty="0" spc="-55"/>
              <a:t> </a:t>
            </a:r>
            <a:r>
              <a:rPr dirty="0"/>
              <a:t>or</a:t>
            </a:r>
            <a:r>
              <a:rPr dirty="0" spc="-55"/>
              <a:t> </a:t>
            </a:r>
            <a:r>
              <a:rPr dirty="0" spc="-10"/>
              <a:t>Scenario </a:t>
            </a:r>
            <a:r>
              <a:rPr dirty="0"/>
              <a:t>Test</a:t>
            </a:r>
            <a:r>
              <a:rPr dirty="0" spc="-220"/>
              <a:t> </a:t>
            </a:r>
            <a:r>
              <a:rPr dirty="0"/>
              <a:t>Your</a:t>
            </a:r>
            <a:r>
              <a:rPr dirty="0" spc="-215"/>
              <a:t> </a:t>
            </a:r>
            <a:r>
              <a:rPr dirty="0" spc="-10"/>
              <a:t>Knowledge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11529" y="6225870"/>
            <a:ext cx="4604385" cy="7467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b="0">
                <a:solidFill>
                  <a:srgbClr val="FFFFFF"/>
                </a:solidFill>
                <a:latin typeface="Fira Sans Light"/>
                <a:cs typeface="Fira Sans Light"/>
              </a:rPr>
              <a:t>3</a:t>
            </a:r>
            <a:r>
              <a:rPr dirty="0" sz="2150" spc="-35" b="0">
                <a:solidFill>
                  <a:srgbClr val="FFFFFF"/>
                </a:solidFill>
                <a:latin typeface="Fira Sans Light"/>
                <a:cs typeface="Fira Sans Light"/>
              </a:rPr>
              <a:t> </a:t>
            </a:r>
            <a:r>
              <a:rPr dirty="0" sz="1800" spc="-10" b="0">
                <a:solidFill>
                  <a:srgbClr val="3F3E3E"/>
                </a:solidFill>
                <a:latin typeface="Fira Sans Light"/>
                <a:cs typeface="Fira Sans Light"/>
              </a:rPr>
              <a:t>Talking</a:t>
            </a:r>
            <a:r>
              <a:rPr dirty="0" sz="18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00" spc="-10" b="0">
                <a:solidFill>
                  <a:srgbClr val="3F3E3E"/>
                </a:solidFill>
                <a:latin typeface="Fira Sans Light"/>
                <a:cs typeface="Fira Sans Light"/>
              </a:rPr>
              <a:t>Points</a:t>
            </a:r>
            <a:endParaRPr sz="1800">
              <a:latin typeface="Fira Sans Light"/>
              <a:cs typeface="Fira Sans Light"/>
            </a:endParaRPr>
          </a:p>
          <a:p>
            <a:pPr marL="795020" indent="-154305">
              <a:lnSpc>
                <a:spcPct val="100000"/>
              </a:lnSpc>
              <a:spcBef>
                <a:spcPts val="1385"/>
              </a:spcBef>
              <a:buFont typeface="DejaVu Serif"/>
              <a:buChar char="•"/>
              <a:tabLst>
                <a:tab pos="795020" algn="l"/>
              </a:tabLst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Engage</a:t>
            </a:r>
            <a:r>
              <a:rPr dirty="0" sz="1400" spc="3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audience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to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apply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what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they’ve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10" b="0">
                <a:solidFill>
                  <a:srgbClr val="3F3E3E"/>
                </a:solidFill>
                <a:latin typeface="Fira Sans Light"/>
                <a:cs typeface="Fira Sans Light"/>
              </a:rPr>
              <a:t>learned</a:t>
            </a:r>
            <a:endParaRPr sz="1400">
              <a:latin typeface="Fira Sans Light"/>
              <a:cs typeface="Fira Sans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26655" y="4900612"/>
            <a:ext cx="6120765" cy="2300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9425">
              <a:lnSpc>
                <a:spcPct val="100000"/>
              </a:lnSpc>
              <a:spcBef>
                <a:spcPts val="100"/>
              </a:spcBef>
            </a:pPr>
            <a:r>
              <a:rPr dirty="0" sz="1800" spc="-10" b="0">
                <a:solidFill>
                  <a:srgbClr val="3F3E3E"/>
                </a:solidFill>
                <a:latin typeface="Fira Sans Light"/>
                <a:cs typeface="Fira Sans Light"/>
              </a:rPr>
              <a:t>Content</a:t>
            </a:r>
            <a:endParaRPr sz="1800">
              <a:latin typeface="Fira Sans Light"/>
              <a:cs typeface="Fira Sans Light"/>
            </a:endParaRPr>
          </a:p>
          <a:p>
            <a:pPr marL="795020" marR="4091940" indent="-154305">
              <a:lnSpc>
                <a:spcPct val="102000"/>
              </a:lnSpc>
              <a:spcBef>
                <a:spcPts val="1415"/>
              </a:spcBef>
              <a:buFont typeface="DejaVu Serif"/>
              <a:buChar char="•"/>
              <a:tabLst>
                <a:tab pos="795020" algn="l"/>
              </a:tabLst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Show</a:t>
            </a:r>
            <a:r>
              <a:rPr dirty="0" sz="140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45" b="0">
                <a:solidFill>
                  <a:srgbClr val="3F3E3E"/>
                </a:solidFill>
                <a:latin typeface="Fira Sans Light"/>
                <a:cs typeface="Fira Sans Light"/>
              </a:rPr>
              <a:t>1–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2</a:t>
            </a:r>
            <a:r>
              <a:rPr dirty="0" sz="1400" spc="4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20" b="0">
                <a:solidFill>
                  <a:srgbClr val="3F3E3E"/>
                </a:solidFill>
                <a:latin typeface="Fira Sans Light"/>
                <a:cs typeface="Fira Sans Light"/>
              </a:rPr>
              <a:t>email </a:t>
            </a:r>
            <a:r>
              <a:rPr dirty="0" sz="1400" spc="-10" b="0">
                <a:solidFill>
                  <a:srgbClr val="3F3E3E"/>
                </a:solidFill>
                <a:latin typeface="Fira Sans Light"/>
                <a:cs typeface="Fira Sans Light"/>
              </a:rPr>
              <a:t>screenshots</a:t>
            </a:r>
            <a:endParaRPr sz="1400">
              <a:latin typeface="Fira Sans Light"/>
              <a:cs typeface="Fira Sans Light"/>
            </a:endParaRPr>
          </a:p>
          <a:p>
            <a:pPr marL="795655" indent="-154305">
              <a:lnSpc>
                <a:spcPct val="100000"/>
              </a:lnSpc>
              <a:spcBef>
                <a:spcPts val="30"/>
              </a:spcBef>
              <a:buFont typeface="DejaVu Serif"/>
              <a:buChar char="•"/>
              <a:tabLst>
                <a:tab pos="795655" algn="l"/>
              </a:tabLst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Ask:</a:t>
            </a:r>
            <a:r>
              <a:rPr dirty="0" sz="140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“Phishing</a:t>
            </a:r>
            <a:r>
              <a:rPr dirty="0" sz="1400" spc="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or</a:t>
            </a:r>
            <a:r>
              <a:rPr dirty="0" sz="1400" spc="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10" b="0">
                <a:solidFill>
                  <a:srgbClr val="3F3E3E"/>
                </a:solidFill>
                <a:latin typeface="Fira Sans Light"/>
                <a:cs typeface="Fira Sans Light"/>
              </a:rPr>
              <a:t>Legit?”</a:t>
            </a:r>
            <a:endParaRPr sz="140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Fira Sans Light"/>
              <a:cs typeface="Fira Sans Light"/>
            </a:endParaRPr>
          </a:p>
          <a:p>
            <a:pPr marL="12700">
              <a:lnSpc>
                <a:spcPct val="100000"/>
              </a:lnSpc>
            </a:pPr>
            <a:r>
              <a:rPr dirty="0" sz="2150" b="0">
                <a:solidFill>
                  <a:srgbClr val="FFFFFF"/>
                </a:solidFill>
                <a:latin typeface="Fira Sans Light"/>
                <a:cs typeface="Fira Sans Light"/>
              </a:rPr>
              <a:t>4</a:t>
            </a:r>
            <a:r>
              <a:rPr dirty="0" sz="2150" spc="15" b="0">
                <a:solidFill>
                  <a:srgbClr val="FFFFFF"/>
                </a:solidFill>
                <a:latin typeface="Fira Sans Light"/>
                <a:cs typeface="Fira Sans Light"/>
              </a:rPr>
              <a:t> </a:t>
            </a:r>
            <a:r>
              <a:rPr dirty="0" sz="1800" spc="-10" b="0">
                <a:solidFill>
                  <a:srgbClr val="3F3E3E"/>
                </a:solidFill>
                <a:latin typeface="Fira Sans Light"/>
                <a:cs typeface="Fira Sans Light"/>
              </a:rPr>
              <a:t>Visuals</a:t>
            </a:r>
            <a:endParaRPr sz="1800">
              <a:latin typeface="Fira Sans Light"/>
              <a:cs typeface="Fira Sans Light"/>
            </a:endParaRPr>
          </a:p>
          <a:p>
            <a:pPr marL="633095" marR="5080" indent="-154305">
              <a:lnSpc>
                <a:spcPct val="107300"/>
              </a:lnSpc>
              <a:spcBef>
                <a:spcPts val="1260"/>
              </a:spcBef>
              <a:buFont typeface="DejaVu Serif"/>
              <a:buChar char="•"/>
              <a:tabLst>
                <a:tab pos="633095" algn="l"/>
              </a:tabLst>
            </a:pP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Interactive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or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clickable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elements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if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possible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(or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ask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for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hands</a:t>
            </a:r>
            <a:r>
              <a:rPr dirty="0" sz="1400" spc="4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10" b="0">
                <a:solidFill>
                  <a:srgbClr val="3F3E3E"/>
                </a:solidFill>
                <a:latin typeface="Fira Sans Light"/>
                <a:cs typeface="Fira Sans Light"/>
              </a:rPr>
              <a:t>raised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in</a:t>
            </a:r>
            <a:r>
              <a:rPr dirty="0" sz="140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3F3E3E"/>
                </a:solidFill>
                <a:latin typeface="Fira Sans Light"/>
                <a:cs typeface="Fira Sans Light"/>
              </a:rPr>
              <a:t>live</a:t>
            </a:r>
            <a:r>
              <a:rPr dirty="0" sz="1400" spc="2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400" spc="-10" b="0">
                <a:solidFill>
                  <a:srgbClr val="3F3E3E"/>
                </a:solidFill>
                <a:latin typeface="Fira Sans Light"/>
                <a:cs typeface="Fira Sans Light"/>
              </a:rPr>
              <a:t>training)</a:t>
            </a:r>
            <a:endParaRPr sz="140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6064" y="0"/>
            <a:ext cx="4974335" cy="8229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515" y="5897867"/>
            <a:ext cx="8074077" cy="13258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515" y="2569464"/>
            <a:ext cx="8074077" cy="9875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5515" y="3730752"/>
            <a:ext cx="8074077" cy="199335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0300"/>
              </a:lnSpc>
              <a:spcBef>
                <a:spcPts val="95"/>
              </a:spcBef>
            </a:pPr>
            <a:r>
              <a:rPr dirty="0"/>
              <a:t>10.</a:t>
            </a:r>
            <a:r>
              <a:rPr dirty="0" spc="-70"/>
              <a:t> </a:t>
            </a:r>
            <a:r>
              <a:rPr dirty="0"/>
              <a:t>Summary</a:t>
            </a:r>
            <a:r>
              <a:rPr dirty="0" spc="-70"/>
              <a:t> </a:t>
            </a:r>
            <a:r>
              <a:rPr dirty="0"/>
              <a:t>&amp;</a:t>
            </a:r>
            <a:r>
              <a:rPr dirty="0" spc="-70"/>
              <a:t> </a:t>
            </a:r>
            <a:r>
              <a:rPr dirty="0"/>
              <a:t>Key</a:t>
            </a:r>
            <a:r>
              <a:rPr dirty="0" spc="-70"/>
              <a:t> </a:t>
            </a:r>
            <a:r>
              <a:rPr dirty="0" spc="-10"/>
              <a:t>Takeaways </a:t>
            </a:r>
            <a:r>
              <a:rPr dirty="0"/>
              <a:t>Stay</a:t>
            </a:r>
            <a:r>
              <a:rPr dirty="0" spc="-45"/>
              <a:t> </a:t>
            </a:r>
            <a:r>
              <a:rPr dirty="0"/>
              <a:t>Alert,</a:t>
            </a:r>
            <a:r>
              <a:rPr dirty="0" spc="-40"/>
              <a:t> </a:t>
            </a:r>
            <a:r>
              <a:rPr dirty="0"/>
              <a:t>Stay</a:t>
            </a:r>
            <a:r>
              <a:rPr dirty="0" spc="-45"/>
              <a:t> </a:t>
            </a:r>
            <a:r>
              <a:rPr dirty="0" spc="-10"/>
              <a:t>Secure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66469" y="2581283"/>
            <a:ext cx="4084320" cy="455993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800" b="0">
                <a:solidFill>
                  <a:srgbClr val="CDCBCB"/>
                </a:solidFill>
                <a:latin typeface="Fira Sans Light"/>
                <a:cs typeface="Fira Sans Light"/>
              </a:rPr>
              <a:t>Slide </a:t>
            </a:r>
            <a:r>
              <a:rPr dirty="0" sz="1800" spc="-20" b="0">
                <a:solidFill>
                  <a:srgbClr val="CDCBCB"/>
                </a:solidFill>
                <a:latin typeface="Fira Sans Light"/>
                <a:cs typeface="Fira Sans Light"/>
              </a:rPr>
              <a:t>Title</a:t>
            </a:r>
            <a:endParaRPr sz="1800">
              <a:latin typeface="Fira Sans Light"/>
              <a:cs typeface="Fira Sans Light"/>
            </a:endParaRPr>
          </a:p>
          <a:p>
            <a:pPr marL="50800">
              <a:lnSpc>
                <a:spcPct val="100000"/>
              </a:lnSpc>
              <a:spcBef>
                <a:spcPts val="950"/>
              </a:spcBef>
            </a:pPr>
            <a:r>
              <a:rPr dirty="0" sz="1400" b="0">
                <a:solidFill>
                  <a:srgbClr val="CDCBCB"/>
                </a:solidFill>
                <a:latin typeface="Fira Sans Light"/>
                <a:cs typeface="Fira Sans Light"/>
              </a:rPr>
              <a:t>“Stay</a:t>
            </a:r>
            <a:r>
              <a:rPr dirty="0" sz="1400" spc="4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CDCBCB"/>
                </a:solidFill>
                <a:latin typeface="Fira Sans Light"/>
                <a:cs typeface="Fira Sans Light"/>
              </a:rPr>
              <a:t>Alert,</a:t>
            </a:r>
            <a:r>
              <a:rPr dirty="0" sz="1400" spc="4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CDCBCB"/>
                </a:solidFill>
                <a:latin typeface="Fira Sans Light"/>
                <a:cs typeface="Fira Sans Light"/>
              </a:rPr>
              <a:t>Stay</a:t>
            </a:r>
            <a:r>
              <a:rPr dirty="0" sz="1400" spc="4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400" spc="-10" b="0">
                <a:solidFill>
                  <a:srgbClr val="CDCBCB"/>
                </a:solidFill>
                <a:latin typeface="Fira Sans Light"/>
                <a:cs typeface="Fira Sans Light"/>
              </a:rPr>
              <a:t>Secure”</a:t>
            </a:r>
            <a:endParaRPr sz="140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</a:pPr>
            <a:endParaRPr sz="140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400">
              <a:latin typeface="Fira Sans Light"/>
              <a:cs typeface="Fira Sans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 b="0">
                <a:solidFill>
                  <a:srgbClr val="ACAAAA"/>
                </a:solidFill>
                <a:latin typeface="Fira Sans Light"/>
                <a:cs typeface="Fira Sans Light"/>
              </a:rPr>
              <a:t>Content</a:t>
            </a:r>
            <a:endParaRPr sz="1800">
              <a:latin typeface="Fira Sans Light"/>
              <a:cs typeface="Fira Sans Light"/>
            </a:endParaRPr>
          </a:p>
          <a:p>
            <a:pPr marL="328930" indent="-154305">
              <a:lnSpc>
                <a:spcPct val="100000"/>
              </a:lnSpc>
              <a:spcBef>
                <a:spcPts val="1025"/>
              </a:spcBef>
              <a:buFont typeface="DejaVu Serif"/>
              <a:buChar char="•"/>
              <a:tabLst>
                <a:tab pos="328930" algn="l"/>
              </a:tabLst>
            </a:pPr>
            <a:r>
              <a:rPr dirty="0" sz="1400" b="0">
                <a:solidFill>
                  <a:srgbClr val="ACAAAA"/>
                </a:solidFill>
                <a:latin typeface="Fira Sans Light"/>
                <a:cs typeface="Fira Sans Light"/>
              </a:rPr>
              <a:t>What</a:t>
            </a:r>
            <a:r>
              <a:rPr dirty="0" sz="1400" spc="7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ACAAAA"/>
                </a:solidFill>
                <a:latin typeface="Fira Sans Light"/>
                <a:cs typeface="Fira Sans Light"/>
              </a:rPr>
              <a:t>phishing</a:t>
            </a:r>
            <a:r>
              <a:rPr dirty="0" sz="1400" spc="7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400" spc="-25" b="0">
                <a:solidFill>
                  <a:srgbClr val="ACAAAA"/>
                </a:solidFill>
                <a:latin typeface="Fira Sans Light"/>
                <a:cs typeface="Fira Sans Light"/>
              </a:rPr>
              <a:t>is</a:t>
            </a:r>
            <a:endParaRPr sz="1400">
              <a:latin typeface="Fira Sans Light"/>
              <a:cs typeface="Fira Sans Light"/>
            </a:endParaRPr>
          </a:p>
          <a:p>
            <a:pPr marL="328930" indent="-154305">
              <a:lnSpc>
                <a:spcPct val="100000"/>
              </a:lnSpc>
              <a:spcBef>
                <a:spcPts val="35"/>
              </a:spcBef>
              <a:buFont typeface="DejaVu Serif"/>
              <a:buChar char="•"/>
              <a:tabLst>
                <a:tab pos="328930" algn="l"/>
              </a:tabLst>
            </a:pPr>
            <a:r>
              <a:rPr dirty="0" sz="1400" b="0">
                <a:solidFill>
                  <a:srgbClr val="ACAAAA"/>
                </a:solidFill>
                <a:latin typeface="Fira Sans Light"/>
                <a:cs typeface="Fira Sans Light"/>
              </a:rPr>
              <a:t>How</a:t>
            </a:r>
            <a:r>
              <a:rPr dirty="0" sz="1400" spc="2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ACAAAA"/>
                </a:solidFill>
                <a:latin typeface="Fira Sans Light"/>
                <a:cs typeface="Fira Sans Light"/>
              </a:rPr>
              <a:t>to</a:t>
            </a:r>
            <a:r>
              <a:rPr dirty="0" sz="1400" spc="3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ACAAAA"/>
                </a:solidFill>
                <a:latin typeface="Fira Sans Light"/>
                <a:cs typeface="Fira Sans Light"/>
              </a:rPr>
              <a:t>spot</a:t>
            </a:r>
            <a:r>
              <a:rPr dirty="0" sz="1400" spc="2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400" spc="-25" b="0">
                <a:solidFill>
                  <a:srgbClr val="ACAAAA"/>
                </a:solidFill>
                <a:latin typeface="Fira Sans Light"/>
                <a:cs typeface="Fira Sans Light"/>
              </a:rPr>
              <a:t>it</a:t>
            </a:r>
            <a:endParaRPr sz="1400">
              <a:latin typeface="Fira Sans Light"/>
              <a:cs typeface="Fira Sans Light"/>
            </a:endParaRPr>
          </a:p>
          <a:p>
            <a:pPr marL="328930" indent="-154305">
              <a:lnSpc>
                <a:spcPct val="100000"/>
              </a:lnSpc>
              <a:spcBef>
                <a:spcPts val="30"/>
              </a:spcBef>
              <a:buFont typeface="DejaVu Serif"/>
              <a:buChar char="•"/>
              <a:tabLst>
                <a:tab pos="328930" algn="l"/>
              </a:tabLst>
            </a:pPr>
            <a:r>
              <a:rPr dirty="0" sz="1400" b="0">
                <a:solidFill>
                  <a:srgbClr val="ACAAAA"/>
                </a:solidFill>
                <a:latin typeface="Fira Sans Light"/>
                <a:cs typeface="Fira Sans Light"/>
              </a:rPr>
              <a:t>How</a:t>
            </a:r>
            <a:r>
              <a:rPr dirty="0" sz="1400" spc="2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ACAAAA"/>
                </a:solidFill>
                <a:latin typeface="Fira Sans Light"/>
                <a:cs typeface="Fira Sans Light"/>
              </a:rPr>
              <a:t>to</a:t>
            </a:r>
            <a:r>
              <a:rPr dirty="0" sz="1400" spc="2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ACAAAA"/>
                </a:solidFill>
                <a:latin typeface="Fira Sans Light"/>
                <a:cs typeface="Fira Sans Light"/>
              </a:rPr>
              <a:t>report</a:t>
            </a:r>
            <a:r>
              <a:rPr dirty="0" sz="1400" spc="2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400" spc="-25" b="0">
                <a:solidFill>
                  <a:srgbClr val="ACAAAA"/>
                </a:solidFill>
                <a:latin typeface="Fira Sans Light"/>
                <a:cs typeface="Fira Sans Light"/>
              </a:rPr>
              <a:t>it</a:t>
            </a:r>
            <a:endParaRPr sz="1400">
              <a:latin typeface="Fira Sans Light"/>
              <a:cs typeface="Fira Sans Light"/>
            </a:endParaRPr>
          </a:p>
          <a:p>
            <a:pPr marL="328295" marR="1140460" indent="-154305">
              <a:lnSpc>
                <a:spcPct val="102000"/>
              </a:lnSpc>
              <a:buFont typeface="DejaVu Serif"/>
              <a:buChar char="•"/>
              <a:tabLst>
                <a:tab pos="328295" algn="l"/>
              </a:tabLst>
            </a:pPr>
            <a:r>
              <a:rPr dirty="0" sz="1400" b="0">
                <a:solidFill>
                  <a:srgbClr val="ACAAAA"/>
                </a:solidFill>
                <a:latin typeface="Fira Sans Light"/>
                <a:cs typeface="Fira Sans Light"/>
              </a:rPr>
              <a:t>Everyone’s</a:t>
            </a:r>
            <a:r>
              <a:rPr dirty="0" sz="1400" spc="1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ACAAAA"/>
                </a:solidFill>
                <a:latin typeface="Fira Sans Light"/>
                <a:cs typeface="Fira Sans Light"/>
              </a:rPr>
              <a:t>role</a:t>
            </a:r>
            <a:r>
              <a:rPr dirty="0" sz="1400" spc="1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ACAAAA"/>
                </a:solidFill>
                <a:latin typeface="Fira Sans Light"/>
                <a:cs typeface="Fira Sans Light"/>
              </a:rPr>
              <a:t>in</a:t>
            </a:r>
            <a:r>
              <a:rPr dirty="0" sz="1400" spc="1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ACAAAA"/>
                </a:solidFill>
                <a:latin typeface="Fira Sans Light"/>
                <a:cs typeface="Fira Sans Light"/>
              </a:rPr>
              <a:t>protecting</a:t>
            </a:r>
            <a:r>
              <a:rPr dirty="0" sz="1400" spc="1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400" spc="-25" b="0">
                <a:solidFill>
                  <a:srgbClr val="ACAAAA"/>
                </a:solidFill>
                <a:latin typeface="Fira Sans Light"/>
                <a:cs typeface="Fira Sans Light"/>
              </a:rPr>
              <a:t>the </a:t>
            </a:r>
            <a:r>
              <a:rPr dirty="0" sz="1400" spc="-10" b="0">
                <a:solidFill>
                  <a:srgbClr val="ACAAAA"/>
                </a:solidFill>
                <a:latin typeface="Fira Sans Light"/>
                <a:cs typeface="Fira Sans Light"/>
              </a:rPr>
              <a:t>organization</a:t>
            </a:r>
            <a:endParaRPr sz="140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buFont typeface="DejaVu Serif"/>
              <a:buChar char="•"/>
            </a:pPr>
            <a:endParaRPr sz="140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buFont typeface="DejaVu Serif"/>
              <a:buChar char="•"/>
            </a:pPr>
            <a:endParaRPr sz="140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DejaVu Serif"/>
              <a:buChar char="•"/>
            </a:pPr>
            <a:endParaRPr sz="1400">
              <a:latin typeface="Fira Sans Light"/>
              <a:cs typeface="Fira Sans Light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0">
                <a:solidFill>
                  <a:srgbClr val="797777"/>
                </a:solidFill>
                <a:latin typeface="Fira Sans Light"/>
                <a:cs typeface="Fira Sans Light"/>
              </a:rPr>
              <a:t>Visuals</a:t>
            </a:r>
            <a:endParaRPr sz="1800">
              <a:latin typeface="Fira Sans Light"/>
              <a:cs typeface="Fira Sans Light"/>
            </a:endParaRPr>
          </a:p>
          <a:p>
            <a:pPr marL="328295" indent="-154305">
              <a:lnSpc>
                <a:spcPct val="100000"/>
              </a:lnSpc>
              <a:spcBef>
                <a:spcPts val="1025"/>
              </a:spcBef>
              <a:buFont typeface="DejaVu Serif"/>
              <a:buChar char="•"/>
              <a:tabLst>
                <a:tab pos="328295" algn="l"/>
              </a:tabLst>
            </a:pPr>
            <a:r>
              <a:rPr dirty="0" sz="1400" b="0">
                <a:solidFill>
                  <a:srgbClr val="797777"/>
                </a:solidFill>
                <a:latin typeface="Fira Sans Light"/>
                <a:cs typeface="Fira Sans Light"/>
              </a:rPr>
              <a:t>Recap</a:t>
            </a:r>
            <a:r>
              <a:rPr dirty="0" sz="1400" spc="2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797777"/>
                </a:solidFill>
                <a:latin typeface="Fira Sans Light"/>
                <a:cs typeface="Fira Sans Light"/>
              </a:rPr>
              <a:t>icons</a:t>
            </a:r>
            <a:r>
              <a:rPr dirty="0" sz="1400" spc="2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797777"/>
                </a:solidFill>
                <a:latin typeface="Fira Sans Light"/>
                <a:cs typeface="Fira Sans Light"/>
              </a:rPr>
              <a:t>for</a:t>
            </a:r>
            <a:r>
              <a:rPr dirty="0" sz="1400" spc="2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797777"/>
                </a:solidFill>
                <a:latin typeface="Fira Sans Light"/>
                <a:cs typeface="Fira Sans Light"/>
              </a:rPr>
              <a:t>each</a:t>
            </a:r>
            <a:r>
              <a:rPr dirty="0" sz="1400" spc="2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797777"/>
                </a:solidFill>
                <a:latin typeface="Fira Sans Light"/>
                <a:cs typeface="Fira Sans Light"/>
              </a:rPr>
              <a:t>key</a:t>
            </a:r>
            <a:r>
              <a:rPr dirty="0" sz="1400" spc="2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400" spc="-10" b="0">
                <a:solidFill>
                  <a:srgbClr val="797777"/>
                </a:solidFill>
                <a:latin typeface="Fira Sans Light"/>
                <a:cs typeface="Fira Sans Light"/>
              </a:rPr>
              <a:t>point</a:t>
            </a:r>
            <a:endParaRPr sz="1400">
              <a:latin typeface="Fira Sans Light"/>
              <a:cs typeface="Fira Sans Light"/>
            </a:endParaRPr>
          </a:p>
          <a:p>
            <a:pPr marL="328295" marR="5080" indent="-154305">
              <a:lnSpc>
                <a:spcPct val="101800"/>
              </a:lnSpc>
              <a:buFont typeface="DejaVu Serif"/>
              <a:buChar char="•"/>
              <a:tabLst>
                <a:tab pos="328295" algn="l"/>
              </a:tabLst>
            </a:pPr>
            <a:r>
              <a:rPr dirty="0" sz="1400" b="0">
                <a:solidFill>
                  <a:srgbClr val="797777"/>
                </a:solidFill>
                <a:latin typeface="Fira Sans Light"/>
                <a:cs typeface="Fira Sans Light"/>
              </a:rPr>
              <a:t>Motivational</a:t>
            </a:r>
            <a:r>
              <a:rPr dirty="0" sz="1400" spc="35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797777"/>
                </a:solidFill>
                <a:latin typeface="Fira Sans Light"/>
                <a:cs typeface="Fira Sans Light"/>
              </a:rPr>
              <a:t>message</a:t>
            </a:r>
            <a:r>
              <a:rPr dirty="0" sz="1400" spc="4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797777"/>
                </a:solidFill>
                <a:latin typeface="Fira Sans Light"/>
                <a:cs typeface="Fira Sans Light"/>
              </a:rPr>
              <a:t>like</a:t>
            </a:r>
            <a:r>
              <a:rPr dirty="0" sz="1400" spc="4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797777"/>
                </a:solidFill>
                <a:latin typeface="Fira Sans Light"/>
                <a:cs typeface="Fira Sans Light"/>
              </a:rPr>
              <a:t>“Security</a:t>
            </a:r>
            <a:r>
              <a:rPr dirty="0" sz="1400" spc="35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400" b="0">
                <a:solidFill>
                  <a:srgbClr val="797777"/>
                </a:solidFill>
                <a:latin typeface="Fira Sans Light"/>
                <a:cs typeface="Fira Sans Light"/>
              </a:rPr>
              <a:t>starts</a:t>
            </a:r>
            <a:r>
              <a:rPr dirty="0" sz="1400" spc="40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400" spc="-20" b="0">
                <a:solidFill>
                  <a:srgbClr val="797777"/>
                </a:solidFill>
                <a:latin typeface="Fira Sans Light"/>
                <a:cs typeface="Fira Sans Light"/>
              </a:rPr>
              <a:t>with </a:t>
            </a:r>
            <a:r>
              <a:rPr dirty="0" sz="1400" spc="-10" b="0">
                <a:solidFill>
                  <a:srgbClr val="797777"/>
                </a:solidFill>
                <a:latin typeface="Fira Sans Light"/>
                <a:cs typeface="Fira Sans Light"/>
              </a:rPr>
              <a:t>you.”</a:t>
            </a:r>
            <a:endParaRPr sz="140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6064" y="0"/>
            <a:ext cx="4974335" cy="82296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86371" y="2075688"/>
            <a:ext cx="8101965" cy="1499870"/>
            <a:chOff x="786371" y="2075688"/>
            <a:chExt cx="8101965" cy="14998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6371" y="2075688"/>
              <a:ext cx="8101652" cy="14996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120" y="2249411"/>
              <a:ext cx="448048" cy="448048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0120" y="3858755"/>
            <a:ext cx="448048" cy="4480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120" y="6108191"/>
            <a:ext cx="448048" cy="4480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25537" y="6181699"/>
            <a:ext cx="97790" cy="2832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550" spc="-50" b="0">
                <a:solidFill>
                  <a:srgbClr val="FFFFFF"/>
                </a:solidFill>
                <a:latin typeface="Fira Sans Light"/>
                <a:cs typeface="Fira Sans Light"/>
              </a:rPr>
              <a:t>3</a:t>
            </a:r>
            <a:endParaRPr sz="1550">
              <a:latin typeface="Fira Sans Light"/>
              <a:cs typeface="Fira Sans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0742" y="3938562"/>
            <a:ext cx="4502785" cy="15906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25"/>
              </a:spcBef>
            </a:pPr>
            <a:r>
              <a:rPr dirty="0" sz="1550" spc="-50" b="0">
                <a:solidFill>
                  <a:srgbClr val="FFFFFF"/>
                </a:solidFill>
                <a:latin typeface="Fira Sans Light"/>
                <a:cs typeface="Fira Sans Light"/>
              </a:rPr>
              <a:t>2</a:t>
            </a:r>
            <a:endParaRPr sz="155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55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</a:pPr>
            <a:r>
              <a:rPr dirty="0" sz="1400" spc="-10" b="0">
                <a:solidFill>
                  <a:srgbClr val="ACAAAA"/>
                </a:solidFill>
                <a:latin typeface="Fira Sans Light"/>
                <a:cs typeface="Fira Sans Light"/>
              </a:rPr>
              <a:t>Content</a:t>
            </a:r>
            <a:endParaRPr sz="1400">
              <a:latin typeface="Fira Sans Light"/>
              <a:cs typeface="Fira Sans Light"/>
            </a:endParaRPr>
          </a:p>
          <a:p>
            <a:pPr marL="133350">
              <a:lnSpc>
                <a:spcPct val="100000"/>
              </a:lnSpc>
              <a:spcBef>
                <a:spcPts val="1185"/>
              </a:spcBef>
            </a:pPr>
            <a:r>
              <a:rPr dirty="0" sz="1100" spc="-260">
                <a:solidFill>
                  <a:srgbClr val="ACAAAA"/>
                </a:solidFill>
                <a:latin typeface="DejaVu Serif"/>
                <a:cs typeface="DejaVu Serif"/>
              </a:rPr>
              <a:t>•</a:t>
            </a:r>
            <a:r>
              <a:rPr dirty="0" sz="1100" spc="254">
                <a:solidFill>
                  <a:srgbClr val="ACAAAA"/>
                </a:solidFill>
                <a:latin typeface="DejaVu Serif"/>
                <a:cs typeface="DejaVu Serif"/>
              </a:rPr>
              <a:t> </a:t>
            </a:r>
            <a:r>
              <a:rPr dirty="0" sz="1100" b="0">
                <a:solidFill>
                  <a:srgbClr val="ACAAAA"/>
                </a:solidFill>
                <a:latin typeface="Fira Sans Light"/>
                <a:cs typeface="Fira Sans Light"/>
              </a:rPr>
              <a:t>IT</a:t>
            </a:r>
            <a:r>
              <a:rPr dirty="0" sz="1100" spc="3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100" b="0">
                <a:solidFill>
                  <a:srgbClr val="ACAAAA"/>
                </a:solidFill>
                <a:latin typeface="Fira Sans Light"/>
                <a:cs typeface="Fira Sans Light"/>
              </a:rPr>
              <a:t>helpdesk</a:t>
            </a:r>
            <a:r>
              <a:rPr dirty="0" sz="1100" spc="3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100" spc="-10" b="0">
                <a:solidFill>
                  <a:srgbClr val="ACAAAA"/>
                </a:solidFill>
                <a:latin typeface="Fira Sans Light"/>
                <a:cs typeface="Fira Sans Light"/>
              </a:rPr>
              <a:t>contact</a:t>
            </a:r>
            <a:endParaRPr sz="1100">
              <a:latin typeface="Fira Sans Light"/>
              <a:cs typeface="Fira Sans Light"/>
            </a:endParaRPr>
          </a:p>
          <a:p>
            <a:pPr marL="133350">
              <a:lnSpc>
                <a:spcPct val="100000"/>
              </a:lnSpc>
              <a:spcBef>
                <a:spcPts val="30"/>
              </a:spcBef>
            </a:pPr>
            <a:r>
              <a:rPr dirty="0" sz="1100" spc="-260">
                <a:solidFill>
                  <a:srgbClr val="ACAAAA"/>
                </a:solidFill>
                <a:latin typeface="DejaVu Serif"/>
                <a:cs typeface="DejaVu Serif"/>
              </a:rPr>
              <a:t>•</a:t>
            </a:r>
            <a:r>
              <a:rPr dirty="0" sz="1100" spc="270">
                <a:solidFill>
                  <a:srgbClr val="ACAAAA"/>
                </a:solidFill>
                <a:latin typeface="DejaVu Serif"/>
                <a:cs typeface="DejaVu Serif"/>
              </a:rPr>
              <a:t> </a:t>
            </a:r>
            <a:r>
              <a:rPr dirty="0" sz="1100" b="0">
                <a:solidFill>
                  <a:srgbClr val="ACAAAA"/>
                </a:solidFill>
                <a:latin typeface="Fira Sans Light"/>
                <a:cs typeface="Fira Sans Light"/>
              </a:rPr>
              <a:t>Security</a:t>
            </a:r>
            <a:r>
              <a:rPr dirty="0" sz="1100" spc="3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100" b="0">
                <a:solidFill>
                  <a:srgbClr val="ACAAAA"/>
                </a:solidFill>
                <a:latin typeface="Fira Sans Light"/>
                <a:cs typeface="Fira Sans Light"/>
              </a:rPr>
              <a:t>policy</a:t>
            </a:r>
            <a:r>
              <a:rPr dirty="0" sz="1100" spc="4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100" spc="-20" b="0">
                <a:solidFill>
                  <a:srgbClr val="ACAAAA"/>
                </a:solidFill>
                <a:latin typeface="Fira Sans Light"/>
                <a:cs typeface="Fira Sans Light"/>
              </a:rPr>
              <a:t>link</a:t>
            </a:r>
            <a:endParaRPr sz="1100">
              <a:latin typeface="Fira Sans Light"/>
              <a:cs typeface="Fira Sans Light"/>
            </a:endParaRPr>
          </a:p>
          <a:p>
            <a:pPr marL="254635" indent="-121920">
              <a:lnSpc>
                <a:spcPct val="102299"/>
              </a:lnSpc>
            </a:pPr>
            <a:r>
              <a:rPr dirty="0" sz="1100" spc="-260">
                <a:solidFill>
                  <a:srgbClr val="ACAAAA"/>
                </a:solidFill>
                <a:latin typeface="DejaVu Serif"/>
                <a:cs typeface="DejaVu Serif"/>
              </a:rPr>
              <a:t>•</a:t>
            </a:r>
            <a:r>
              <a:rPr dirty="0" sz="1100" spc="254">
                <a:solidFill>
                  <a:srgbClr val="ACAAAA"/>
                </a:solidFill>
                <a:latin typeface="DejaVu Serif"/>
                <a:cs typeface="DejaVu Serif"/>
              </a:rPr>
              <a:t> </a:t>
            </a:r>
            <a:r>
              <a:rPr dirty="0" sz="1100" b="0">
                <a:solidFill>
                  <a:srgbClr val="ACAAAA"/>
                </a:solidFill>
                <a:latin typeface="Fira Sans Light"/>
                <a:cs typeface="Fira Sans Light"/>
              </a:rPr>
              <a:t>Awareness</a:t>
            </a:r>
            <a:r>
              <a:rPr dirty="0" sz="1100" spc="3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100" b="0">
                <a:solidFill>
                  <a:srgbClr val="ACAAAA"/>
                </a:solidFill>
                <a:latin typeface="Fira Sans Light"/>
                <a:cs typeface="Fira Sans Light"/>
              </a:rPr>
              <a:t>resources</a:t>
            </a:r>
            <a:r>
              <a:rPr dirty="0" sz="1100" spc="3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100" b="0">
                <a:solidFill>
                  <a:srgbClr val="ACAAAA"/>
                </a:solidFill>
                <a:latin typeface="Fira Sans Light"/>
                <a:cs typeface="Fira Sans Light"/>
              </a:rPr>
              <a:t>(e.g.,</a:t>
            </a:r>
            <a:r>
              <a:rPr dirty="0" sz="1100" spc="3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100" b="0">
                <a:solidFill>
                  <a:srgbClr val="ACAAAA"/>
                </a:solidFill>
                <a:latin typeface="Fira Sans Light"/>
                <a:cs typeface="Fira Sans Light"/>
              </a:rPr>
              <a:t>internal</a:t>
            </a:r>
            <a:r>
              <a:rPr dirty="0" sz="1100" spc="3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100" b="0">
                <a:solidFill>
                  <a:srgbClr val="ACAAAA"/>
                </a:solidFill>
                <a:latin typeface="Fira Sans Light"/>
                <a:cs typeface="Fira Sans Light"/>
              </a:rPr>
              <a:t>intranet</a:t>
            </a:r>
            <a:r>
              <a:rPr dirty="0" sz="1100" spc="3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100" b="0">
                <a:solidFill>
                  <a:srgbClr val="ACAAAA"/>
                </a:solidFill>
                <a:latin typeface="Fira Sans Light"/>
                <a:cs typeface="Fira Sans Light"/>
              </a:rPr>
              <a:t>or</a:t>
            </a:r>
            <a:r>
              <a:rPr dirty="0" sz="1100" spc="35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100" b="0">
                <a:solidFill>
                  <a:srgbClr val="ACAAAA"/>
                </a:solidFill>
                <a:latin typeface="Fira Sans Light"/>
                <a:cs typeface="Fira Sans Light"/>
              </a:rPr>
              <a:t>official</a:t>
            </a:r>
            <a:r>
              <a:rPr dirty="0" sz="1100" spc="30" b="0">
                <a:solidFill>
                  <a:srgbClr val="ACAAAA"/>
                </a:solidFill>
                <a:latin typeface="Fira Sans Light"/>
                <a:cs typeface="Fira Sans Light"/>
              </a:rPr>
              <a:t> </a:t>
            </a:r>
            <a:r>
              <a:rPr dirty="0" sz="1100" spc="-10" b="0">
                <a:solidFill>
                  <a:srgbClr val="ACAAAA"/>
                </a:solidFill>
                <a:latin typeface="Fira Sans Light"/>
                <a:cs typeface="Fira Sans Light"/>
              </a:rPr>
              <a:t>cybersecurity sites)</a:t>
            </a:r>
            <a:endParaRPr sz="1100">
              <a:latin typeface="Fira Sans Light"/>
              <a:cs typeface="Fira Sans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8042" y="2326970"/>
            <a:ext cx="887730" cy="10769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125"/>
              </a:spcBef>
            </a:pPr>
            <a:r>
              <a:rPr dirty="0" sz="1550" spc="-50" b="0">
                <a:solidFill>
                  <a:srgbClr val="FFFFFF"/>
                </a:solidFill>
                <a:latin typeface="Fira Sans Light"/>
                <a:cs typeface="Fira Sans Light"/>
              </a:rPr>
              <a:t>1</a:t>
            </a:r>
            <a:endParaRPr sz="1550">
              <a:latin typeface="Fira Sans Light"/>
              <a:cs typeface="Fira Sans Light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550">
              <a:latin typeface="Fira Sans Light"/>
              <a:cs typeface="Fira Sans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0">
                <a:solidFill>
                  <a:srgbClr val="CDCBCB"/>
                </a:solidFill>
                <a:latin typeface="Fira Sans Light"/>
                <a:cs typeface="Fira Sans Light"/>
              </a:rPr>
              <a:t>Slide</a:t>
            </a:r>
            <a:r>
              <a:rPr dirty="0" sz="1400" spc="65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400" spc="-20" b="0">
                <a:solidFill>
                  <a:srgbClr val="CDCBCB"/>
                </a:solidFill>
                <a:latin typeface="Fira Sans Light"/>
                <a:cs typeface="Fira Sans Light"/>
              </a:rPr>
              <a:t>Title</a:t>
            </a:r>
            <a:endParaRPr sz="1400">
              <a:latin typeface="Fira Sans Light"/>
              <a:cs typeface="Fira Sans Light"/>
            </a:endParaRPr>
          </a:p>
          <a:p>
            <a:pPr marL="41275">
              <a:lnSpc>
                <a:spcPct val="100000"/>
              </a:lnSpc>
              <a:spcBef>
                <a:spcPts val="1255"/>
              </a:spcBef>
            </a:pPr>
            <a:r>
              <a:rPr dirty="0" sz="1100" b="0">
                <a:solidFill>
                  <a:srgbClr val="CDCBCB"/>
                </a:solidFill>
                <a:latin typeface="Fira Sans Light"/>
                <a:cs typeface="Fira Sans Light"/>
              </a:rPr>
              <a:t>“Need</a:t>
            </a:r>
            <a:r>
              <a:rPr dirty="0" sz="1100" spc="60" b="0">
                <a:solidFill>
                  <a:srgbClr val="CDCBCB"/>
                </a:solidFill>
                <a:latin typeface="Fira Sans Light"/>
                <a:cs typeface="Fira Sans Light"/>
              </a:rPr>
              <a:t> </a:t>
            </a:r>
            <a:r>
              <a:rPr dirty="0" sz="1100" spc="-10" b="0">
                <a:solidFill>
                  <a:srgbClr val="CDCBCB"/>
                </a:solidFill>
                <a:latin typeface="Fira Sans Light"/>
                <a:cs typeface="Fira Sans Light"/>
              </a:rPr>
              <a:t>Help?”</a:t>
            </a:r>
            <a:endParaRPr sz="1100">
              <a:latin typeface="Fira Sans Light"/>
              <a:cs typeface="Fira Sans Ligh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6371" y="3685032"/>
            <a:ext cx="8101652" cy="213056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6371" y="5925298"/>
            <a:ext cx="8101652" cy="1499623"/>
          </a:xfrm>
          <a:prstGeom prst="rect">
            <a:avLst/>
          </a:prstGeom>
        </p:spPr>
      </p:pic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783272" y="636629"/>
            <a:ext cx="4371340" cy="127317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100"/>
              </a:lnSpc>
              <a:spcBef>
                <a:spcPts val="95"/>
              </a:spcBef>
            </a:pPr>
            <a:r>
              <a:rPr dirty="0" sz="2900"/>
              <a:t>11.</a:t>
            </a:r>
            <a:r>
              <a:rPr dirty="0" sz="2900" spc="25"/>
              <a:t> </a:t>
            </a:r>
            <a:r>
              <a:rPr dirty="0" sz="2900"/>
              <a:t>Additional</a:t>
            </a:r>
            <a:r>
              <a:rPr dirty="0" sz="2900" spc="30"/>
              <a:t> </a:t>
            </a:r>
            <a:r>
              <a:rPr dirty="0" sz="2900"/>
              <a:t>Resources</a:t>
            </a:r>
            <a:r>
              <a:rPr dirty="0" sz="2900" spc="30"/>
              <a:t> </a:t>
            </a:r>
            <a:r>
              <a:rPr dirty="0" sz="2900" spc="-50"/>
              <a:t>&amp; </a:t>
            </a:r>
            <a:r>
              <a:rPr dirty="0" sz="2900"/>
              <a:t>Contacts</a:t>
            </a:r>
            <a:r>
              <a:rPr dirty="0" sz="2900" spc="55"/>
              <a:t> </a:t>
            </a:r>
            <a:r>
              <a:rPr dirty="0" sz="2900"/>
              <a:t>Need</a:t>
            </a:r>
            <a:r>
              <a:rPr dirty="0" sz="2900" spc="55"/>
              <a:t> </a:t>
            </a:r>
            <a:r>
              <a:rPr dirty="0" sz="2900" spc="-10"/>
              <a:t>Help?</a:t>
            </a:r>
            <a:endParaRPr sz="2900"/>
          </a:p>
        </p:txBody>
      </p:sp>
      <p:sp>
        <p:nvSpPr>
          <p:cNvPr id="14" name="object 14"/>
          <p:cNvSpPr txBox="1"/>
          <p:nvPr/>
        </p:nvSpPr>
        <p:spPr>
          <a:xfrm>
            <a:off x="948042" y="6688137"/>
            <a:ext cx="2650490" cy="5689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 b="0">
                <a:solidFill>
                  <a:srgbClr val="797777"/>
                </a:solidFill>
                <a:latin typeface="Fira Sans Light"/>
                <a:cs typeface="Fira Sans Light"/>
              </a:rPr>
              <a:t>Visuals</a:t>
            </a:r>
            <a:endParaRPr sz="1400">
              <a:latin typeface="Fira Sans Light"/>
              <a:cs typeface="Fira Sans Light"/>
            </a:endParaRPr>
          </a:p>
          <a:p>
            <a:pPr marL="266700" indent="-120650">
              <a:lnSpc>
                <a:spcPct val="100000"/>
              </a:lnSpc>
              <a:spcBef>
                <a:spcPts val="1245"/>
              </a:spcBef>
              <a:buFont typeface="DejaVu Serif"/>
              <a:buChar char="•"/>
              <a:tabLst>
                <a:tab pos="266700" algn="l"/>
              </a:tabLst>
            </a:pPr>
            <a:r>
              <a:rPr dirty="0" sz="1100" b="0">
                <a:solidFill>
                  <a:srgbClr val="797777"/>
                </a:solidFill>
                <a:latin typeface="Fira Sans Light"/>
                <a:cs typeface="Fira Sans Light"/>
              </a:rPr>
              <a:t>Support</a:t>
            </a:r>
            <a:r>
              <a:rPr dirty="0" sz="1100" spc="55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100" b="0">
                <a:solidFill>
                  <a:srgbClr val="797777"/>
                </a:solidFill>
                <a:latin typeface="Fira Sans Light"/>
                <a:cs typeface="Fira Sans Light"/>
              </a:rPr>
              <a:t>icon</a:t>
            </a:r>
            <a:r>
              <a:rPr dirty="0" sz="1100" spc="55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100" b="0">
                <a:solidFill>
                  <a:srgbClr val="797777"/>
                </a:solidFill>
                <a:latin typeface="Fira Sans Light"/>
                <a:cs typeface="Fira Sans Light"/>
              </a:rPr>
              <a:t>or</a:t>
            </a:r>
            <a:r>
              <a:rPr dirty="0" sz="1100" spc="55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100" b="0">
                <a:solidFill>
                  <a:srgbClr val="797777"/>
                </a:solidFill>
                <a:latin typeface="Fira Sans Light"/>
                <a:cs typeface="Fira Sans Light"/>
              </a:rPr>
              <a:t>phone/email</a:t>
            </a:r>
            <a:r>
              <a:rPr dirty="0" sz="1100" spc="55" b="0">
                <a:solidFill>
                  <a:srgbClr val="797777"/>
                </a:solidFill>
                <a:latin typeface="Fira Sans Light"/>
                <a:cs typeface="Fira Sans Light"/>
              </a:rPr>
              <a:t> </a:t>
            </a:r>
            <a:r>
              <a:rPr dirty="0" sz="1100" spc="-10" b="0">
                <a:solidFill>
                  <a:srgbClr val="797777"/>
                </a:solidFill>
                <a:latin typeface="Fira Sans Light"/>
                <a:cs typeface="Fira Sans Light"/>
              </a:rPr>
              <a:t>graphic</a:t>
            </a:r>
            <a:endParaRPr sz="110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23956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515" y="5285231"/>
            <a:ext cx="4197106" cy="19384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1210" y="5285231"/>
            <a:ext cx="4197106" cy="19384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6907" y="5285231"/>
            <a:ext cx="4197106" cy="1938492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83272" y="3046746"/>
            <a:ext cx="3935095" cy="1948814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43400"/>
              </a:lnSpc>
              <a:spcBef>
                <a:spcPts val="90"/>
              </a:spcBef>
            </a:pPr>
            <a:r>
              <a:rPr dirty="0" sz="4400"/>
              <a:t>12.</a:t>
            </a:r>
            <a:r>
              <a:rPr dirty="0" sz="4400" spc="-75"/>
              <a:t> </a:t>
            </a:r>
            <a:r>
              <a:rPr dirty="0" sz="4400"/>
              <a:t>Thank</a:t>
            </a:r>
            <a:r>
              <a:rPr dirty="0" sz="4400" spc="-75"/>
              <a:t> </a:t>
            </a:r>
            <a:r>
              <a:rPr dirty="0" sz="4400"/>
              <a:t>You</a:t>
            </a:r>
            <a:r>
              <a:rPr dirty="0" sz="4400" spc="-75"/>
              <a:t> </a:t>
            </a:r>
            <a:r>
              <a:rPr dirty="0" sz="4400" spc="-50"/>
              <a:t>&amp; </a:t>
            </a:r>
            <a:r>
              <a:rPr dirty="0" sz="4400"/>
              <a:t>Q&amp;A</a:t>
            </a:r>
            <a:r>
              <a:rPr dirty="0" sz="4400" spc="5"/>
              <a:t> </a:t>
            </a:r>
            <a:r>
              <a:rPr dirty="0" sz="4400"/>
              <a:t>Thank</a:t>
            </a:r>
            <a:r>
              <a:rPr dirty="0" sz="4400" spc="5"/>
              <a:t> </a:t>
            </a:r>
            <a:r>
              <a:rPr dirty="0" sz="4400" spc="-25"/>
              <a:t>You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1012177" y="5296103"/>
            <a:ext cx="1291590" cy="985519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2250" b="0">
                <a:solidFill>
                  <a:srgbClr val="3F3E3E"/>
                </a:solidFill>
                <a:latin typeface="Fira Sans Light"/>
                <a:cs typeface="Fira Sans Light"/>
              </a:rPr>
              <a:t>Slide </a:t>
            </a:r>
            <a:r>
              <a:rPr dirty="0" sz="2250" spc="-20" b="0">
                <a:solidFill>
                  <a:srgbClr val="3F3E3E"/>
                </a:solidFill>
                <a:latin typeface="Fira Sans Light"/>
                <a:cs typeface="Fira Sans Light"/>
              </a:rPr>
              <a:t>Title</a:t>
            </a:r>
            <a:endParaRPr sz="2250">
              <a:latin typeface="Fira Sans Light"/>
              <a:cs typeface="Fira Sans Light"/>
            </a:endParaRPr>
          </a:p>
          <a:p>
            <a:pPr marL="60325">
              <a:lnSpc>
                <a:spcPct val="100000"/>
              </a:lnSpc>
              <a:spcBef>
                <a:spcPts val="1200"/>
              </a:spcBef>
            </a:pP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“Thank</a:t>
            </a:r>
            <a:r>
              <a:rPr dirty="0" sz="1800" spc="1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00" spc="-20" b="0">
                <a:solidFill>
                  <a:srgbClr val="3F3E3E"/>
                </a:solidFill>
                <a:latin typeface="Fira Sans Light"/>
                <a:cs typeface="Fira Sans Light"/>
              </a:rPr>
              <a:t>You”</a:t>
            </a:r>
            <a:endParaRPr sz="1800">
              <a:latin typeface="Fira Sans Light"/>
              <a:cs typeface="Fira Sans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40624" y="5296103"/>
            <a:ext cx="3322954" cy="1682750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Content</a:t>
            </a:r>
            <a:endParaRPr sz="2250">
              <a:latin typeface="Fira Sans Light"/>
              <a:cs typeface="Fira Sans Light"/>
            </a:endParaRPr>
          </a:p>
          <a:p>
            <a:pPr marL="407670" indent="-194945">
              <a:lnSpc>
                <a:spcPct val="100000"/>
              </a:lnSpc>
              <a:spcBef>
                <a:spcPts val="1200"/>
              </a:spcBef>
              <a:buFont typeface="DejaVu Serif"/>
              <a:buChar char="•"/>
              <a:tabLst>
                <a:tab pos="407670" algn="l"/>
              </a:tabLst>
            </a:pP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Open</a:t>
            </a:r>
            <a:r>
              <a:rPr dirty="0" sz="18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the</a:t>
            </a:r>
            <a:r>
              <a:rPr dirty="0" sz="18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ﬂoor</a:t>
            </a:r>
            <a:r>
              <a:rPr dirty="0" sz="18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for</a:t>
            </a:r>
            <a:r>
              <a:rPr dirty="0" sz="18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00" spc="-10" b="0">
                <a:solidFill>
                  <a:srgbClr val="3F3E3E"/>
                </a:solidFill>
                <a:latin typeface="Fira Sans Light"/>
                <a:cs typeface="Fira Sans Light"/>
              </a:rPr>
              <a:t>questions</a:t>
            </a:r>
            <a:endParaRPr sz="1800">
              <a:latin typeface="Fira Sans Light"/>
              <a:cs typeface="Fira Sans Light"/>
            </a:endParaRPr>
          </a:p>
          <a:p>
            <a:pPr marL="207010" marR="1048385" indent="-194945">
              <a:lnSpc>
                <a:spcPct val="100000"/>
              </a:lnSpc>
              <a:spcBef>
                <a:spcPts val="1165"/>
              </a:spcBef>
              <a:buFont typeface="DejaVu Serif"/>
              <a:buChar char="•"/>
              <a:tabLst>
                <a:tab pos="207010" algn="l"/>
              </a:tabLst>
            </a:pP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Encourage</a:t>
            </a:r>
            <a:r>
              <a:rPr dirty="0" sz="1800" spc="-114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00" spc="-10" b="0">
                <a:solidFill>
                  <a:srgbClr val="3F3E3E"/>
                </a:solidFill>
                <a:latin typeface="Fira Sans Light"/>
                <a:cs typeface="Fira Sans Light"/>
              </a:rPr>
              <a:t>reporting </a:t>
            </a: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suspicious </a:t>
            </a:r>
            <a:r>
              <a:rPr dirty="0" sz="1800" spc="-10" b="0">
                <a:solidFill>
                  <a:srgbClr val="3F3E3E"/>
                </a:solidFill>
                <a:latin typeface="Fira Sans Light"/>
                <a:cs typeface="Fira Sans Light"/>
              </a:rPr>
              <a:t>activities</a:t>
            </a:r>
            <a:endParaRPr sz="1800">
              <a:latin typeface="Fira Sans Light"/>
              <a:cs typeface="Fira Sans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9157" y="5486095"/>
            <a:ext cx="4061460" cy="937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10" b="0">
                <a:solidFill>
                  <a:srgbClr val="3F3E3E"/>
                </a:solidFill>
                <a:latin typeface="Fira Sans Light"/>
                <a:cs typeface="Fira Sans Light"/>
              </a:rPr>
              <a:t>Visuals</a:t>
            </a:r>
            <a:endParaRPr sz="2250">
              <a:latin typeface="Fira Sans Light"/>
              <a:cs typeface="Fira Sans Light"/>
            </a:endParaRPr>
          </a:p>
          <a:p>
            <a:pPr marL="407034" indent="-194945">
              <a:lnSpc>
                <a:spcPct val="100000"/>
              </a:lnSpc>
              <a:spcBef>
                <a:spcPts val="2315"/>
              </a:spcBef>
              <a:buFont typeface="DejaVu Serif"/>
              <a:buChar char="•"/>
              <a:tabLst>
                <a:tab pos="407034" algn="l"/>
              </a:tabLst>
            </a:pP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Company</a:t>
            </a:r>
            <a:r>
              <a:rPr dirty="0" sz="18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logo</a:t>
            </a:r>
            <a:r>
              <a:rPr dirty="0" sz="1800" spc="-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+</a:t>
            </a:r>
            <a:r>
              <a:rPr dirty="0" sz="18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thank</a:t>
            </a:r>
            <a:r>
              <a:rPr dirty="0" sz="1800" spc="-25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00" b="0">
                <a:solidFill>
                  <a:srgbClr val="3F3E3E"/>
                </a:solidFill>
                <a:latin typeface="Fira Sans Light"/>
                <a:cs typeface="Fira Sans Light"/>
              </a:rPr>
              <a:t>you</a:t>
            </a:r>
            <a:r>
              <a:rPr dirty="0" sz="1800" spc="-30" b="0">
                <a:solidFill>
                  <a:srgbClr val="3F3E3E"/>
                </a:solidFill>
                <a:latin typeface="Fira Sans Light"/>
                <a:cs typeface="Fira Sans Light"/>
              </a:rPr>
              <a:t> </a:t>
            </a:r>
            <a:r>
              <a:rPr dirty="0" sz="1800" spc="-10" b="0">
                <a:solidFill>
                  <a:srgbClr val="3F3E3E"/>
                </a:solidFill>
                <a:latin typeface="Fira Sans Light"/>
                <a:cs typeface="Fira Sans Light"/>
              </a:rPr>
              <a:t>message</a:t>
            </a:r>
            <a:endParaRPr sz="1800">
              <a:latin typeface="Fira Sans Light"/>
              <a:cs typeface="Fira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08349" y="3464572"/>
            <a:ext cx="3599179" cy="9639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150"/>
              <a:t>Thank </a:t>
            </a:r>
            <a:r>
              <a:rPr dirty="0" sz="6150" spc="-90"/>
              <a:t>You</a:t>
            </a:r>
            <a:endParaRPr sz="6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terms:created xsi:type="dcterms:W3CDTF">2025-10-18T13:30:31Z</dcterms:created>
  <dcterms:modified xsi:type="dcterms:W3CDTF">2025-10-18T13:30:31Z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2025-10-18T00:00:00Z</vt:filetime>
  </property>
  <property fmtid="{D5CDD505-2E9C-101B-9397-08002B2CF9AE}" pid="3" name="Creator">
    <vt:lpwstr>Adobe Express</vt:lpwstr>
  </property>
  <property fmtid="{D5CDD505-2E9C-101B-9397-08002B2CF9AE}" pid="4" name="LastSaved">
    <vt:filetime>2025-10-18T00:00:00Z</vt:filetime>
  </property>
  <property fmtid="{D5CDD505-2E9C-101B-9397-08002B2CF9AE}" pid="5" name="Producer">
    <vt:lpwstr>Adobe Express</vt:lpwstr>
  </property>
</Properties>
</file>